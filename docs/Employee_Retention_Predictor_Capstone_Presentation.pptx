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7" r:id="rId2"/>
    <p:sldId id="256"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3CE78C-DD8A-40F7-B278-8310FFAF2213}" v="16" dt="2026-09-11T19:39:24.30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46973" autoAdjust="0"/>
  </p:normalViewPr>
  <p:slideViewPr>
    <p:cSldViewPr snapToGrid="0" snapToObjects="1">
      <p:cViewPr varScale="1">
        <p:scale>
          <a:sx n="35" d="100"/>
          <a:sy n="35" d="100"/>
        </p:scale>
        <p:origin x="2814"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uter Roos" userId="239c5a57-57c8-499d-8a57-5e4ac9b5fba6" providerId="ADAL" clId="{192D8F60-AF15-4EDB-814F-22369D656A18}"/>
    <pc:docChg chg="undo custSel modSld sldOrd">
      <pc:chgData name="Wouter Roos" userId="239c5a57-57c8-499d-8a57-5e4ac9b5fba6" providerId="ADAL" clId="{192D8F60-AF15-4EDB-814F-22369D656A18}" dt="2026-09-11T19:40:05.817" v="6379" actId="20577"/>
      <pc:docMkLst>
        <pc:docMk/>
      </pc:docMkLst>
      <pc:sldChg chg="addSp delSp modSp mod modNotesTx">
        <pc:chgData name="Wouter Roos" userId="239c5a57-57c8-499d-8a57-5e4ac9b5fba6" providerId="ADAL" clId="{192D8F60-AF15-4EDB-814F-22369D656A18}" dt="2026-09-11T16:12:54.273" v="1224" actId="33524"/>
        <pc:sldMkLst>
          <pc:docMk/>
          <pc:sldMk cId="0" sldId="256"/>
        </pc:sldMkLst>
        <pc:spChg chg="mod">
          <ac:chgData name="Wouter Roos" userId="239c5a57-57c8-499d-8a57-5e4ac9b5fba6" providerId="ADAL" clId="{192D8F60-AF15-4EDB-814F-22369D656A18}" dt="2026-09-11T13:32:16.747" v="35" actId="1076"/>
          <ac:spMkLst>
            <pc:docMk/>
            <pc:sldMk cId="0" sldId="256"/>
            <ac:spMk id="2" creationId="{00000000-0000-0000-0000-000000000000}"/>
          </ac:spMkLst>
        </pc:spChg>
        <pc:spChg chg="mod">
          <ac:chgData name="Wouter Roos" userId="239c5a57-57c8-499d-8a57-5e4ac9b5fba6" providerId="ADAL" clId="{192D8F60-AF15-4EDB-814F-22369D656A18}" dt="2026-09-11T13:32:14.185" v="26" actId="1076"/>
          <ac:spMkLst>
            <pc:docMk/>
            <pc:sldMk cId="0" sldId="256"/>
            <ac:spMk id="3" creationId="{00000000-0000-0000-0000-000000000000}"/>
          </ac:spMkLst>
        </pc:spChg>
        <pc:spChg chg="mod">
          <ac:chgData name="Wouter Roos" userId="239c5a57-57c8-499d-8a57-5e4ac9b5fba6" providerId="ADAL" clId="{192D8F60-AF15-4EDB-814F-22369D656A18}" dt="2026-09-11T13:32:14.447" v="27" actId="1076"/>
          <ac:spMkLst>
            <pc:docMk/>
            <pc:sldMk cId="0" sldId="256"/>
            <ac:spMk id="4" creationId="{00000000-0000-0000-0000-000000000000}"/>
          </ac:spMkLst>
        </pc:spChg>
        <pc:spChg chg="mod">
          <ac:chgData name="Wouter Roos" userId="239c5a57-57c8-499d-8a57-5e4ac9b5fba6" providerId="ADAL" clId="{192D8F60-AF15-4EDB-814F-22369D656A18}" dt="2026-09-11T13:32:14.185" v="26" actId="1076"/>
          <ac:spMkLst>
            <pc:docMk/>
            <pc:sldMk cId="0" sldId="256"/>
            <ac:spMk id="5" creationId="{00000000-0000-0000-0000-000000000000}"/>
          </ac:spMkLst>
        </pc:spChg>
        <pc:spChg chg="mod">
          <ac:chgData name="Wouter Roos" userId="239c5a57-57c8-499d-8a57-5e4ac9b5fba6" providerId="ADAL" clId="{192D8F60-AF15-4EDB-814F-22369D656A18}" dt="2026-09-11T13:32:14.447" v="27" actId="1076"/>
          <ac:spMkLst>
            <pc:docMk/>
            <pc:sldMk cId="0" sldId="256"/>
            <ac:spMk id="6" creationId="{00000000-0000-0000-0000-000000000000}"/>
          </ac:spMkLst>
        </pc:spChg>
        <pc:spChg chg="mod">
          <ac:chgData name="Wouter Roos" userId="239c5a57-57c8-499d-8a57-5e4ac9b5fba6" providerId="ADAL" clId="{192D8F60-AF15-4EDB-814F-22369D656A18}" dt="2026-09-11T13:32:14.185" v="26" actId="1076"/>
          <ac:spMkLst>
            <pc:docMk/>
            <pc:sldMk cId="0" sldId="256"/>
            <ac:spMk id="7" creationId="{00000000-0000-0000-0000-000000000000}"/>
          </ac:spMkLst>
        </pc:spChg>
        <pc:spChg chg="mod">
          <ac:chgData name="Wouter Roos" userId="239c5a57-57c8-499d-8a57-5e4ac9b5fba6" providerId="ADAL" clId="{192D8F60-AF15-4EDB-814F-22369D656A18}" dt="2026-09-11T13:32:14.447" v="27" actId="1076"/>
          <ac:spMkLst>
            <pc:docMk/>
            <pc:sldMk cId="0" sldId="256"/>
            <ac:spMk id="8" creationId="{00000000-0000-0000-0000-000000000000}"/>
          </ac:spMkLst>
        </pc:spChg>
        <pc:picChg chg="add del mod">
          <ac:chgData name="Wouter Roos" userId="239c5a57-57c8-499d-8a57-5e4ac9b5fba6" providerId="ADAL" clId="{192D8F60-AF15-4EDB-814F-22369D656A18}" dt="2026-09-11T13:29:22.039" v="3" actId="21"/>
          <ac:picMkLst>
            <pc:docMk/>
            <pc:sldMk cId="0" sldId="256"/>
            <ac:picMk id="12" creationId="{D974FA64-7E07-1FCD-84CD-7C81F56925F1}"/>
          </ac:picMkLst>
        </pc:picChg>
        <pc:picChg chg="add del mod">
          <ac:chgData name="Wouter Roos" userId="239c5a57-57c8-499d-8a57-5e4ac9b5fba6" providerId="ADAL" clId="{192D8F60-AF15-4EDB-814F-22369D656A18}" dt="2026-09-11T13:32:21.337" v="45" actId="22"/>
          <ac:picMkLst>
            <pc:docMk/>
            <pc:sldMk cId="0" sldId="256"/>
            <ac:picMk id="14" creationId="{92A52F8F-6D82-133E-F657-B5228A8400FF}"/>
          </ac:picMkLst>
        </pc:picChg>
        <pc:picChg chg="add del mod">
          <ac:chgData name="Wouter Roos" userId="239c5a57-57c8-499d-8a57-5e4ac9b5fba6" providerId="ADAL" clId="{192D8F60-AF15-4EDB-814F-22369D656A18}" dt="2026-09-11T13:32:16.433" v="34" actId="22"/>
          <ac:picMkLst>
            <pc:docMk/>
            <pc:sldMk cId="0" sldId="256"/>
            <ac:picMk id="16" creationId="{C5BAEB86-FD5D-417A-10DC-76B30B89A1BC}"/>
          </ac:picMkLst>
        </pc:picChg>
      </pc:sldChg>
      <pc:sldChg chg="addSp delSp modSp mod ord modNotesTx">
        <pc:chgData name="Wouter Roos" userId="239c5a57-57c8-499d-8a57-5e4ac9b5fba6" providerId="ADAL" clId="{192D8F60-AF15-4EDB-814F-22369D656A18}" dt="2026-09-11T16:08:26.830" v="1002" actId="20577"/>
        <pc:sldMkLst>
          <pc:docMk/>
          <pc:sldMk cId="0" sldId="257"/>
        </pc:sldMkLst>
        <pc:picChg chg="add del mod">
          <ac:chgData name="Wouter Roos" userId="239c5a57-57c8-499d-8a57-5e4ac9b5fba6" providerId="ADAL" clId="{192D8F60-AF15-4EDB-814F-22369D656A18}" dt="2026-09-11T13:32:25.786" v="46" actId="478"/>
          <ac:picMkLst>
            <pc:docMk/>
            <pc:sldMk cId="0" sldId="257"/>
            <ac:picMk id="8" creationId="{752AF8C1-4A3C-2644-C25D-4E0AABD1BDF9}"/>
          </ac:picMkLst>
        </pc:picChg>
      </pc:sldChg>
      <pc:sldChg chg="addSp delSp modSp mod modNotesTx">
        <pc:chgData name="Wouter Roos" userId="239c5a57-57c8-499d-8a57-5e4ac9b5fba6" providerId="ADAL" clId="{192D8F60-AF15-4EDB-814F-22369D656A18}" dt="2026-09-11T16:20:58.564" v="2609" actId="20577"/>
        <pc:sldMkLst>
          <pc:docMk/>
          <pc:sldMk cId="0" sldId="258"/>
        </pc:sldMkLst>
        <pc:picChg chg="add del mod">
          <ac:chgData name="Wouter Roos" userId="239c5a57-57c8-499d-8a57-5e4ac9b5fba6" providerId="ADAL" clId="{192D8F60-AF15-4EDB-814F-22369D656A18}" dt="2026-09-11T13:32:20.684" v="43" actId="22"/>
          <ac:picMkLst>
            <pc:docMk/>
            <pc:sldMk cId="0" sldId="258"/>
            <ac:picMk id="12" creationId="{CA01F8A8-2963-C44C-29D7-0BA3E346FF36}"/>
          </ac:picMkLst>
        </pc:picChg>
      </pc:sldChg>
      <pc:sldChg chg="addSp delSp modSp mod modNotesTx">
        <pc:chgData name="Wouter Roos" userId="239c5a57-57c8-499d-8a57-5e4ac9b5fba6" providerId="ADAL" clId="{192D8F60-AF15-4EDB-814F-22369D656A18}" dt="2026-09-11T16:30:41.425" v="3937" actId="20577"/>
        <pc:sldMkLst>
          <pc:docMk/>
          <pc:sldMk cId="0" sldId="259"/>
        </pc:sldMkLst>
        <pc:picChg chg="add del mod">
          <ac:chgData name="Wouter Roos" userId="239c5a57-57c8-499d-8a57-5e4ac9b5fba6" providerId="ADAL" clId="{192D8F60-AF15-4EDB-814F-22369D656A18}" dt="2026-09-11T13:32:20.029" v="41" actId="22"/>
          <ac:picMkLst>
            <pc:docMk/>
            <pc:sldMk cId="0" sldId="259"/>
            <ac:picMk id="34" creationId="{A201A770-74CA-AB3D-0EBD-A30BC830FCF6}"/>
          </ac:picMkLst>
        </pc:picChg>
      </pc:sldChg>
      <pc:sldChg chg="modNotesTx">
        <pc:chgData name="Wouter Roos" userId="239c5a57-57c8-499d-8a57-5e4ac9b5fba6" providerId="ADAL" clId="{192D8F60-AF15-4EDB-814F-22369D656A18}" dt="2026-09-11T16:37:23.810" v="4751" actId="20577"/>
        <pc:sldMkLst>
          <pc:docMk/>
          <pc:sldMk cId="0" sldId="260"/>
        </pc:sldMkLst>
      </pc:sldChg>
      <pc:sldChg chg="modNotesTx">
        <pc:chgData name="Wouter Roos" userId="239c5a57-57c8-499d-8a57-5e4ac9b5fba6" providerId="ADAL" clId="{192D8F60-AF15-4EDB-814F-22369D656A18}" dt="2026-09-11T16:49:25.567" v="5987" actId="20577"/>
        <pc:sldMkLst>
          <pc:docMk/>
          <pc:sldMk cId="0" sldId="261"/>
        </pc:sldMkLst>
      </pc:sldChg>
      <pc:sldChg chg="modNotesTx">
        <pc:chgData name="Wouter Roos" userId="239c5a57-57c8-499d-8a57-5e4ac9b5fba6" providerId="ADAL" clId="{192D8F60-AF15-4EDB-814F-22369D656A18}" dt="2026-09-11T17:03:24.626" v="6297" actId="20577"/>
        <pc:sldMkLst>
          <pc:docMk/>
          <pc:sldMk cId="0" sldId="262"/>
        </pc:sldMkLst>
      </pc:sldChg>
      <pc:sldChg chg="modSp mod modNotesTx">
        <pc:chgData name="Wouter Roos" userId="239c5a57-57c8-499d-8a57-5e4ac9b5fba6" providerId="ADAL" clId="{192D8F60-AF15-4EDB-814F-22369D656A18}" dt="2026-09-11T19:40:05.817" v="6379" actId="20577"/>
        <pc:sldMkLst>
          <pc:docMk/>
          <pc:sldMk cId="0" sldId="263"/>
        </pc:sldMkLst>
        <pc:spChg chg="mod">
          <ac:chgData name="Wouter Roos" userId="239c5a57-57c8-499d-8a57-5e4ac9b5fba6" providerId="ADAL" clId="{192D8F60-AF15-4EDB-814F-22369D656A18}" dt="2026-09-11T19:39:07.813" v="6350" actId="20577"/>
          <ac:spMkLst>
            <pc:docMk/>
            <pc:sldMk cId="0" sldId="263"/>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4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I'm Philip Roos. During this engagement, I've focused on one core question: can we identify the people about to leave Helix before they hand in their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 am presenting today to the Helix executive committee: our CHRO, our Finance Director, and our VP of Engineering. My goal is to secure one hundred and eighty-five thousand dollars for Phase 1. However, I am asking you to keep the actual intervention budget locked down until we pass two specific validation gates. Here is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Last year, we lost two hundred and thirty-seven people, or sixteen percent of our workforce. Applying the industry-standard replacement cost of one and a half times salary, that is twenty point four million dollars walking out the door. The real issue is how we spent that money. We paid recruiters and absorbed vacancy gaps reactively, long after the employee decided to leave. This hurts us deeply because sixty-five percent of our staff are in R&amp;D. Our regulatory depth and integrated technology stack degrade the moment an engineer leaves. Since half of departing tech talent goes to competitors, a huge chunk of that twenty million dollars is actively funding our competition.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It is easy to assume this is just a compensation issue, but the data says otherwise. Workload is a massive factor. Employees putting in sustained overtime leave at a rate of thirty point five percent, compared to ten point four percent for those working standard hours. We also see first-year employees leaving at thirty-five percent, and employees adjusting to a new manager leaving at thirty-two percent. These are timing problems, not pay scale problems. Our HR process only kicks in at resignation, exactly when we lose our leverage. Without a ranked list of who is actually at risk, we either spread our retention budget too thin or rely on managerial gut feeling. We have a targeting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I want to be very clear about what we built here. Think about how we run condition monitoring on our plant compressors. A vibration sensor doesn't fix a broken bearing. It gives you the lead time to do the maintenance. This predictive model is the sensor. It scores every employee's propensity to leave, ranks them, and isolates the specific drivers pushing that score up. It buys us lead time. The model does not retain anyone. The conversation HR has with that employee is what retains them. That distinction drives my final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ZA" dirty="0"/>
              <a:t>We didn't launch any new surveys for this. We used thirty-five existing fields from our HRIS. Interestingly, no single variable acts as a perfect predictor. But when we combine these variables, the signal becomes incredibly clear. A standard dashboard will tell you high overtime is bad. This model will tell you that a specific engineer with high overtime, a recent manager change, and no stock options represents an eighty-six thousand dollar flight risk liability. One thing that surprised me was promotion stagnation. In the raw numbers, it doesn't look like a flight risk. But people who haven't been promoted recently also tend to be our most tenured staff, which protects against attrition. Once the model controls for tenure, promotion stagnation lights up as a major risk driver.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ZA" dirty="0"/>
              <a:t>Now, does it actually work? I rigorously validated the model. Let me explain how.</a:t>
            </a:r>
          </a:p>
          <a:p>
            <a:pPr rtl="0"/>
            <a:endParaRPr lang="en-ZA" dirty="0"/>
          </a:p>
          <a:p>
            <a:pPr rtl="0"/>
            <a:r>
              <a:rPr lang="en-ZA" dirty="0"/>
              <a:t>The easy approach is to split your data, tune on one half, report on the other. </a:t>
            </a:r>
          </a:p>
          <a:p>
            <a:pPr rtl="0"/>
            <a:r>
              <a:rPr lang="en-ZA" dirty="0"/>
              <a:t>I did that at first, and it was wrong – I tuned my decision threshold on the same data I was reporting from, which subsequently inflates every number.</a:t>
            </a:r>
          </a:p>
          <a:p>
            <a:pPr rtl="0"/>
            <a:endParaRPr lang="en-ZA" dirty="0"/>
          </a:p>
          <a:p>
            <a:pPr rtl="0"/>
            <a:r>
              <a:rPr lang="en-ZA" dirty="0"/>
              <a:t>So I rebuilt it with nested cross-validation. </a:t>
            </a:r>
          </a:p>
          <a:p>
            <a:pPr rtl="0"/>
            <a:r>
              <a:rPr lang="en-ZA" dirty="0"/>
              <a:t>The threshold is chosen inside an inner loop, then tested on data that loop never saw. </a:t>
            </a:r>
          </a:p>
          <a:p>
            <a:pPr rtl="0"/>
            <a:r>
              <a:rPr lang="en-ZA" dirty="0"/>
              <a:t>Every one of our fourteen hundred and seventy employees gets an honest, out-of-sample score.</a:t>
            </a:r>
          </a:p>
          <a:p>
            <a:pPr rtl="0"/>
            <a:endParaRPr lang="en-ZA" dirty="0"/>
          </a:p>
          <a:p>
            <a:pPr rtl="0"/>
            <a:r>
              <a:rPr lang="en-ZA" dirty="0"/>
              <a:t>The result: </a:t>
            </a:r>
            <a:r>
              <a:rPr lang="en-ZA" b="1" dirty="0"/>
              <a:t>Area Under Curve of zero point eight one three</a:t>
            </a:r>
            <a:r>
              <a:rPr lang="en-ZA" dirty="0"/>
              <a:t>. </a:t>
            </a:r>
          </a:p>
          <a:p>
            <a:pPr rtl="0"/>
            <a:r>
              <a:rPr lang="en-ZA" dirty="0"/>
              <a:t>We catch </a:t>
            </a:r>
            <a:r>
              <a:rPr lang="en-ZA" b="1" dirty="0"/>
              <a:t>sixty-five percent of people who subsequently left</a:t>
            </a:r>
            <a:r>
              <a:rPr lang="en-ZA" dirty="0"/>
              <a:t>, and </a:t>
            </a:r>
            <a:r>
              <a:rPr lang="en-ZA" b="1" dirty="0"/>
              <a:t>forty-three percent of everyone we flag is genuine</a:t>
            </a:r>
            <a:r>
              <a:rPr lang="en-ZA" dirty="0"/>
              <a:t>. </a:t>
            </a:r>
          </a:p>
          <a:p>
            <a:pPr rtl="0"/>
            <a:r>
              <a:rPr lang="en-ZA" dirty="0"/>
              <a:t>Roughly one in two conversations is with a real flight risk.</a:t>
            </a:r>
          </a:p>
          <a:p>
            <a:pPr rtl="0"/>
            <a:endParaRPr lang="en-ZA" dirty="0"/>
          </a:p>
          <a:p>
            <a:pPr rtl="0"/>
            <a:r>
              <a:rPr lang="en-ZA" dirty="0"/>
              <a:t>And because it's validated across two hundred and thirty-seven departures rather than the forty-seven you'd get from a single holdout, the confidence interval on that recall figure is roughly half as wide. </a:t>
            </a:r>
          </a:p>
          <a:p>
            <a:pPr rtl="0"/>
            <a:r>
              <a:rPr lang="en-ZA" dirty="0"/>
              <a:t>That's the difference between a number you can budget against and a number you can only gesture at.</a:t>
            </a:r>
          </a:p>
          <a:p>
            <a:pPr rtl="0"/>
            <a:endParaRPr lang="en-ZA" dirty="0"/>
          </a:p>
          <a:p>
            <a:pPr rtl="0"/>
            <a:r>
              <a:rPr lang="en-ZA" dirty="0"/>
              <a:t>Lastly, I’ll briefly touch on model comparisons. </a:t>
            </a:r>
          </a:p>
          <a:p>
            <a:pPr rtl="0"/>
            <a:r>
              <a:rPr lang="en-ZA" dirty="0"/>
              <a:t>I tested a random forest against a plain logistic regression. </a:t>
            </a:r>
          </a:p>
          <a:p>
            <a:pPr rtl="0"/>
            <a:r>
              <a:rPr lang="en-ZA" dirty="0"/>
              <a:t>The simple model won – so every score can be explained to the employee it describes without sacrificing accuracy and predictive performance.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ZA" dirty="0"/>
              <a:t>Before anyone asks the governance question – I've excluded gender, age and marital status entirely. </a:t>
            </a:r>
          </a:p>
          <a:p>
            <a:pPr rtl="0"/>
            <a:endParaRPr lang="en-ZA" dirty="0"/>
          </a:p>
          <a:p>
            <a:pPr rtl="0"/>
            <a:r>
              <a:rPr lang="en-ZA" dirty="0"/>
              <a:t>That costs us about a one point one hundredths or one percent of predictive performance. </a:t>
            </a:r>
          </a:p>
          <a:p>
            <a:pPr rtl="0"/>
            <a:r>
              <a:rPr lang="en-ZA" dirty="0"/>
              <a:t>I'll take that trade every time.</a:t>
            </a:r>
          </a:p>
          <a:p>
            <a:pPr rtl="0"/>
            <a:endParaRPr lang="en-ZA" dirty="0"/>
          </a:p>
          <a:p>
            <a:pPr rtl="0"/>
            <a:r>
              <a:rPr lang="en-ZA" dirty="0"/>
              <a:t>I also excluded commute distance, which is the interesting one. </a:t>
            </a:r>
          </a:p>
          <a:p>
            <a:pPr rtl="0"/>
            <a:r>
              <a:rPr lang="en-ZA" dirty="0"/>
              <a:t>The Chief HR Officer asked for a commute threshold to trigger hybrid-working policy. </a:t>
            </a:r>
          </a:p>
          <a:p>
            <a:pPr rtl="0"/>
            <a:endParaRPr lang="en-ZA" dirty="0"/>
          </a:p>
          <a:p>
            <a:pPr rtl="0"/>
            <a:r>
              <a:rPr lang="en-ZA" dirty="0"/>
              <a:t>I am  NOT delivering it. </a:t>
            </a:r>
          </a:p>
          <a:p>
            <a:pPr rtl="0"/>
            <a:r>
              <a:rPr lang="en-ZA" dirty="0"/>
              <a:t>Commute distance is a well-documented proxy for race through residential segregation, and I have no race data to test whether that proxy is active here. </a:t>
            </a:r>
          </a:p>
          <a:p>
            <a:pPr rtl="0"/>
            <a:r>
              <a:rPr lang="en-ZA" dirty="0"/>
              <a:t>I'm not building a policy lever on an untestable proxy.</a:t>
            </a:r>
          </a:p>
          <a:p>
            <a:pPr rtl="0"/>
            <a:r>
              <a:rPr lang="en-ZA" dirty="0"/>
              <a:t>Where I could test — gender — the impact ratio is zero point nine one. That passes the four-fifths rule comfortably. On live data we test every protected class before anyone is scored.</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2076450"/>
            <a:ext cx="14716125" cy="2602706"/>
          </a:xfrm>
          <a:prstGeom prst="rect">
            <a:avLst/>
          </a:prstGeom>
          <a:noFill/>
          <a:ln/>
        </p:spPr>
        <p:txBody>
          <a:bodyPr wrap="square" lIns="25400" tIns="25400" rIns="25400" bIns="25400" rtlCol="0" anchor="t">
            <a:normAutofit lnSpcReduction="10000"/>
          </a:bodyPr>
          <a:lstStyle/>
          <a:p>
            <a:pPr marL="0" indent="0" algn="l">
              <a:lnSpc>
                <a:spcPct val="89760"/>
              </a:lnSpc>
              <a:buNone/>
            </a:pPr>
            <a:r>
              <a:rPr lang="en-US" sz="9900" kern="0" spc="-247" dirty="0">
                <a:solidFill>
                  <a:srgbClr val="F2EDE4"/>
                </a:solidFill>
                <a:latin typeface="Georgia" pitchFamily="34" charset="0"/>
                <a:ea typeface="Georgia" pitchFamily="34" charset="-122"/>
                <a:cs typeface="Georgia" pitchFamily="34" charset="-120"/>
              </a:rPr>
              <a:t>The Employee Retention Predictor</a:t>
            </a:r>
            <a:endParaRPr lang="en-US" sz="9900" dirty="0"/>
          </a:p>
        </p:txBody>
      </p:sp>
      <p:sp>
        <p:nvSpPr>
          <p:cNvPr id="3" name="Text 1"/>
          <p:cNvSpPr/>
          <p:nvPr/>
        </p:nvSpPr>
        <p:spPr>
          <a:xfrm>
            <a:off x="1238250" y="5688731"/>
            <a:ext cx="15716250" cy="687586"/>
          </a:xfrm>
          <a:prstGeom prst="rect">
            <a:avLst/>
          </a:prstGeom>
          <a:noFill/>
          <a:ln/>
        </p:spPr>
        <p:txBody>
          <a:bodyPr wrap="square" lIns="25400" tIns="25400" rIns="25400" bIns="25400" rtlCol="0" anchor="t">
            <a:normAutofit/>
          </a:bodyPr>
          <a:lstStyle/>
          <a:p>
            <a:pPr marL="0" indent="0" algn="l">
              <a:lnSpc>
                <a:spcPct val="136400"/>
              </a:lnSpc>
              <a:buNone/>
            </a:pPr>
            <a:r>
              <a:rPr lang="en-US" sz="3300" i="1" dirty="0">
                <a:solidFill>
                  <a:srgbClr val="B9B0A2"/>
                </a:solidFill>
                <a:latin typeface="Georgia" pitchFamily="34" charset="0"/>
                <a:ea typeface="Georgia" pitchFamily="34" charset="-122"/>
                <a:cs typeface="Georgia" pitchFamily="34" charset="-120"/>
              </a:rPr>
              <a:t>Seeing attrition before the resignation letter.</a:t>
            </a:r>
            <a:endParaRPr lang="en-US" sz="3300" dirty="0"/>
          </a:p>
        </p:txBody>
      </p:sp>
      <p:sp>
        <p:nvSpPr>
          <p:cNvPr id="4" name="Text 2"/>
          <p:cNvSpPr/>
          <p:nvPr/>
        </p:nvSpPr>
        <p:spPr>
          <a:xfrm>
            <a:off x="1238250" y="7042099"/>
            <a:ext cx="15716250" cy="451396"/>
          </a:xfrm>
          <a:prstGeom prst="rect">
            <a:avLst/>
          </a:prstGeom>
          <a:noFill/>
          <a:ln/>
        </p:spPr>
        <p:txBody>
          <a:bodyPr wrap="square" lIns="25400" tIns="25400" rIns="25400" bIns="25400" rtlCol="0" anchor="t">
            <a:normAutofit/>
          </a:bodyPr>
          <a:lstStyle/>
          <a:p>
            <a:pPr marL="0" indent="0" algn="l">
              <a:lnSpc>
                <a:spcPct val="135625"/>
              </a:lnSpc>
              <a:buNone/>
            </a:pPr>
            <a:r>
              <a:rPr lang="en-US" sz="2100" kern="0" spc="210" dirty="0">
                <a:solidFill>
                  <a:srgbClr val="7D8899"/>
                </a:solidFill>
                <a:latin typeface="Georgia" pitchFamily="34" charset="0"/>
                <a:ea typeface="Georgia" pitchFamily="34" charset="-122"/>
                <a:cs typeface="Georgia" pitchFamily="34" charset="-120"/>
              </a:rPr>
              <a:t>PHILIP WOUTER ROOS</a:t>
            </a:r>
            <a:endParaRPr lang="en-US" sz="2100" dirty="0"/>
          </a:p>
        </p:txBody>
      </p:sp>
      <p:sp>
        <p:nvSpPr>
          <p:cNvPr id="5" name="Text 3"/>
          <p:cNvSpPr/>
          <p:nvPr/>
        </p:nvSpPr>
        <p:spPr>
          <a:xfrm>
            <a:off x="1238250" y="92088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6" name="Text 4"/>
          <p:cNvSpPr/>
          <p:nvPr/>
        </p:nvSpPr>
        <p:spPr>
          <a:xfrm>
            <a:off x="16794956" y="9208889"/>
            <a:ext cx="51425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02</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1047750"/>
            <a:ext cx="17392650" cy="750540"/>
          </a:xfrm>
          <a:prstGeom prst="rect">
            <a:avLst/>
          </a:prstGeom>
          <a:noFill/>
          <a:ln/>
        </p:spPr>
        <p:txBody>
          <a:bodyPr wrap="square" lIns="25400" tIns="25400" rIns="25400" bIns="25400" rtlCol="0" anchor="t">
            <a:normAutofit lnSpcReduction="10000"/>
          </a:bodyPr>
          <a:lstStyle/>
          <a:p>
            <a:pPr marL="0" indent="0" algn="l">
              <a:lnSpc>
                <a:spcPct val="97143"/>
              </a:lnSpc>
              <a:buNone/>
            </a:pPr>
            <a:r>
              <a:rPr lang="en-US" sz="5100" kern="0" spc="-51" dirty="0">
                <a:solidFill>
                  <a:srgbClr val="F2EDE4"/>
                </a:solidFill>
                <a:latin typeface="Georgia" pitchFamily="34" charset="0"/>
                <a:ea typeface="Georgia" pitchFamily="34" charset="-122"/>
                <a:cs typeface="Georgia" pitchFamily="34" charset="-120"/>
              </a:rPr>
              <a:t>Context &amp; Objective</a:t>
            </a:r>
            <a:endParaRPr lang="en-US" sz="5100" dirty="0"/>
          </a:p>
        </p:txBody>
      </p:sp>
      <p:sp>
        <p:nvSpPr>
          <p:cNvPr id="3" name="Text 1"/>
          <p:cNvSpPr/>
          <p:nvPr/>
        </p:nvSpPr>
        <p:spPr>
          <a:xfrm>
            <a:off x="1238250" y="4846886"/>
            <a:ext cx="2409825"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AUDIENCE</a:t>
            </a:r>
            <a:endParaRPr lang="en-US" sz="1800" dirty="0"/>
          </a:p>
        </p:txBody>
      </p:sp>
      <p:sp>
        <p:nvSpPr>
          <p:cNvPr id="4" name="Text 2"/>
          <p:cNvSpPr/>
          <p:nvPr/>
        </p:nvSpPr>
        <p:spPr>
          <a:xfrm>
            <a:off x="3886200" y="4732586"/>
            <a:ext cx="7588002" cy="526703"/>
          </a:xfrm>
          <a:prstGeom prst="rect">
            <a:avLst/>
          </a:prstGeom>
          <a:noFill/>
          <a:ln/>
        </p:spPr>
        <p:txBody>
          <a:bodyPr wrap="square" lIns="25400" tIns="25400" rIns="25400" bIns="25400" rtlCol="0" anchor="t">
            <a:normAutofit lnSpcReduction="10000"/>
          </a:bodyPr>
          <a:lstStyle/>
          <a:p>
            <a:pPr marL="0" indent="0" algn="l">
              <a:lnSpc>
                <a:spcPct val="119302"/>
              </a:lnSpc>
              <a:buNone/>
            </a:pPr>
            <a:r>
              <a:rPr lang="en-US" sz="2850" dirty="0">
                <a:solidFill>
                  <a:srgbClr val="F2EDE4"/>
                </a:solidFill>
                <a:latin typeface="Georgia" pitchFamily="34" charset="0"/>
                <a:ea typeface="Georgia" pitchFamily="34" charset="-122"/>
                <a:cs typeface="Georgia" pitchFamily="34" charset="-120"/>
              </a:rPr>
              <a:t>Executive committee, Helix Systems Group</a:t>
            </a:r>
            <a:endParaRPr lang="en-US" sz="2850" dirty="0"/>
          </a:p>
        </p:txBody>
      </p:sp>
      <p:sp>
        <p:nvSpPr>
          <p:cNvPr id="5" name="Text 3"/>
          <p:cNvSpPr/>
          <p:nvPr/>
        </p:nvSpPr>
        <p:spPr>
          <a:xfrm>
            <a:off x="1238250" y="5754588"/>
            <a:ext cx="2409825"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OCCASION</a:t>
            </a:r>
            <a:endParaRPr lang="en-US" sz="1800" dirty="0"/>
          </a:p>
        </p:txBody>
      </p:sp>
      <p:sp>
        <p:nvSpPr>
          <p:cNvPr id="6" name="Text 4"/>
          <p:cNvSpPr/>
          <p:nvPr/>
        </p:nvSpPr>
        <p:spPr>
          <a:xfrm>
            <a:off x="3886200" y="5640288"/>
            <a:ext cx="7176433" cy="526703"/>
          </a:xfrm>
          <a:prstGeom prst="rect">
            <a:avLst/>
          </a:prstGeom>
          <a:noFill/>
          <a:ln/>
        </p:spPr>
        <p:txBody>
          <a:bodyPr wrap="square" lIns="25400" tIns="25400" rIns="25400" bIns="25400" rtlCol="0" anchor="t">
            <a:normAutofit lnSpcReduction="10000"/>
          </a:bodyPr>
          <a:lstStyle/>
          <a:p>
            <a:pPr marL="0" indent="0" algn="l">
              <a:lnSpc>
                <a:spcPct val="119302"/>
              </a:lnSpc>
              <a:buNone/>
            </a:pPr>
            <a:r>
              <a:rPr lang="en-US" sz="2850" dirty="0">
                <a:solidFill>
                  <a:srgbClr val="F2EDE4"/>
                </a:solidFill>
                <a:latin typeface="Georgia" pitchFamily="34" charset="0"/>
                <a:ea typeface="Georgia" pitchFamily="34" charset="-122"/>
                <a:cs typeface="Georgia" pitchFamily="34" charset="-120"/>
              </a:rPr>
              <a:t>Ten-minute investment decision briefing</a:t>
            </a:r>
            <a:endParaRPr lang="en-US" sz="2850" dirty="0"/>
          </a:p>
        </p:txBody>
      </p:sp>
      <p:sp>
        <p:nvSpPr>
          <p:cNvPr id="7" name="Text 5"/>
          <p:cNvSpPr/>
          <p:nvPr/>
        </p:nvSpPr>
        <p:spPr>
          <a:xfrm>
            <a:off x="1238250" y="6662291"/>
            <a:ext cx="2409825"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THE ASK</a:t>
            </a:r>
            <a:endParaRPr lang="en-US" sz="1800" dirty="0"/>
          </a:p>
        </p:txBody>
      </p:sp>
      <p:sp>
        <p:nvSpPr>
          <p:cNvPr id="8" name="Text 6"/>
          <p:cNvSpPr/>
          <p:nvPr/>
        </p:nvSpPr>
        <p:spPr>
          <a:xfrm>
            <a:off x="3886200" y="6547991"/>
            <a:ext cx="6610320" cy="526703"/>
          </a:xfrm>
          <a:prstGeom prst="rect">
            <a:avLst/>
          </a:prstGeom>
          <a:noFill/>
          <a:ln/>
        </p:spPr>
        <p:txBody>
          <a:bodyPr wrap="square" lIns="25400" tIns="25400" rIns="25400" bIns="25400" rtlCol="0" anchor="t">
            <a:normAutofit lnSpcReduction="10000"/>
          </a:bodyPr>
          <a:lstStyle/>
          <a:p>
            <a:pPr marL="0" indent="0" algn="l">
              <a:lnSpc>
                <a:spcPct val="119302"/>
              </a:lnSpc>
              <a:buNone/>
            </a:pPr>
            <a:r>
              <a:rPr lang="en-US" sz="2850" dirty="0">
                <a:solidFill>
                  <a:srgbClr val="F2EDE4"/>
                </a:solidFill>
                <a:latin typeface="Georgia" pitchFamily="34" charset="0"/>
                <a:ea typeface="Georgia" pitchFamily="34" charset="-122"/>
                <a:cs typeface="Georgia" pitchFamily="34" charset="-120"/>
              </a:rPr>
              <a:t>$185,000 for a gated proof of concept</a:t>
            </a:r>
            <a:endParaRPr lang="en-US" sz="2850" dirty="0"/>
          </a:p>
        </p:txBody>
      </p:sp>
      <p:sp>
        <p:nvSpPr>
          <p:cNvPr id="9" name="Text 7"/>
          <p:cNvSpPr/>
          <p:nvPr/>
        </p:nvSpPr>
        <p:spPr>
          <a:xfrm>
            <a:off x="1238250" y="92088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10" name="Text 8"/>
          <p:cNvSpPr/>
          <p:nvPr/>
        </p:nvSpPr>
        <p:spPr>
          <a:xfrm>
            <a:off x="16794956" y="9208889"/>
            <a:ext cx="33099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01</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1428750"/>
            <a:ext cx="17392650" cy="2609850"/>
          </a:xfrm>
          <a:prstGeom prst="rect">
            <a:avLst/>
          </a:prstGeom>
          <a:noFill/>
          <a:ln/>
        </p:spPr>
        <p:txBody>
          <a:bodyPr wrap="square" lIns="25400" tIns="25400" rIns="25400" bIns="25400" rtlCol="0" anchor="t">
            <a:normAutofit lnSpcReduction="10000"/>
          </a:bodyPr>
          <a:lstStyle/>
          <a:p>
            <a:pPr marL="0" indent="0" algn="l">
              <a:lnSpc>
                <a:spcPct val="79179"/>
              </a:lnSpc>
              <a:buNone/>
            </a:pPr>
            <a:r>
              <a:rPr lang="en-US" sz="22500" kern="0" spc="-787" dirty="0">
                <a:solidFill>
                  <a:srgbClr val="E9A13B"/>
                </a:solidFill>
                <a:latin typeface="Georgia" pitchFamily="34" charset="0"/>
                <a:ea typeface="Georgia" pitchFamily="34" charset="-122"/>
                <a:cs typeface="Georgia" pitchFamily="34" charset="-120"/>
              </a:rPr>
              <a:t>$20.4M</a:t>
            </a:r>
            <a:endParaRPr lang="en-US" sz="22500" dirty="0"/>
          </a:p>
        </p:txBody>
      </p:sp>
      <p:sp>
        <p:nvSpPr>
          <p:cNvPr id="3" name="Text 1"/>
          <p:cNvSpPr/>
          <p:nvPr/>
        </p:nvSpPr>
        <p:spPr>
          <a:xfrm>
            <a:off x="1238250" y="4495800"/>
            <a:ext cx="11525250" cy="510480"/>
          </a:xfrm>
          <a:prstGeom prst="rect">
            <a:avLst/>
          </a:prstGeom>
          <a:noFill/>
          <a:ln/>
        </p:spPr>
        <p:txBody>
          <a:bodyPr wrap="square" lIns="25400" tIns="25400" rIns="25400" bIns="25400" rtlCol="0" anchor="t">
            <a:normAutofit/>
          </a:bodyPr>
          <a:lstStyle/>
          <a:p>
            <a:pPr marL="0" indent="0" algn="l">
              <a:lnSpc>
                <a:spcPct val="137778"/>
              </a:lnSpc>
              <a:buNone/>
            </a:pPr>
            <a:r>
              <a:rPr lang="en-US" sz="2400" dirty="0">
                <a:solidFill>
                  <a:srgbClr val="B9B0A2"/>
                </a:solidFill>
                <a:latin typeface="Georgia" pitchFamily="34" charset="0"/>
                <a:ea typeface="Georgia" pitchFamily="34" charset="-122"/>
                <a:cs typeface="Georgia" pitchFamily="34" charset="-120"/>
              </a:rPr>
              <a:t>Annual replacement cost — spent entirely after the decision to leave.</a:t>
            </a:r>
            <a:endParaRPr lang="en-US" sz="2400" dirty="0"/>
          </a:p>
        </p:txBody>
      </p:sp>
      <p:sp>
        <p:nvSpPr>
          <p:cNvPr id="4" name="Text 2"/>
          <p:cNvSpPr/>
          <p:nvPr/>
        </p:nvSpPr>
        <p:spPr>
          <a:xfrm>
            <a:off x="1238250" y="5882580"/>
            <a:ext cx="1785431" cy="571500"/>
          </a:xfrm>
          <a:prstGeom prst="rect">
            <a:avLst/>
          </a:prstGeom>
          <a:noFill/>
          <a:ln/>
        </p:spPr>
        <p:txBody>
          <a:bodyPr wrap="square" lIns="25400" tIns="25400" rIns="25400" bIns="25400" rtlCol="0" anchor="t">
            <a:normAutofit lnSpcReduction="10000"/>
          </a:bodyPr>
          <a:lstStyle/>
          <a:p>
            <a:pPr marL="0" indent="0" algn="l">
              <a:lnSpc>
                <a:spcPct val="88889"/>
              </a:lnSpc>
              <a:buNone/>
            </a:pPr>
            <a:r>
              <a:rPr lang="en-US" sz="4200" dirty="0">
                <a:solidFill>
                  <a:srgbClr val="F2EDE4"/>
                </a:solidFill>
                <a:latin typeface="Georgia" pitchFamily="34" charset="0"/>
                <a:ea typeface="Georgia" pitchFamily="34" charset="-122"/>
                <a:cs typeface="Georgia" pitchFamily="34" charset="-120"/>
              </a:rPr>
              <a:t>237</a:t>
            </a:r>
            <a:endParaRPr lang="en-US" sz="4200" dirty="0"/>
          </a:p>
        </p:txBody>
      </p:sp>
      <p:sp>
        <p:nvSpPr>
          <p:cNvPr id="5" name="Text 3"/>
          <p:cNvSpPr/>
          <p:nvPr/>
        </p:nvSpPr>
        <p:spPr>
          <a:xfrm>
            <a:off x="1238250" y="6549330"/>
            <a:ext cx="1785431" cy="392311"/>
          </a:xfrm>
          <a:prstGeom prst="rect">
            <a:avLst/>
          </a:prstGeom>
          <a:noFill/>
          <a:ln/>
        </p:spPr>
        <p:txBody>
          <a:bodyPr wrap="square" lIns="25400" tIns="25400" rIns="25400" bIns="25400" rtlCol="0" anchor="t">
            <a:normAutofit fontScale="92500"/>
          </a:bodyPr>
          <a:lstStyle/>
          <a:p>
            <a:pPr marL="0" indent="0" algn="l">
              <a:lnSpc>
                <a:spcPct val="137778"/>
              </a:lnSpc>
              <a:buNone/>
            </a:pPr>
            <a:r>
              <a:rPr lang="en-US" sz="1800" kern="0" spc="180" dirty="0">
                <a:solidFill>
                  <a:srgbClr val="7D8899"/>
                </a:solidFill>
                <a:latin typeface="Georgia" pitchFamily="34" charset="0"/>
                <a:ea typeface="Georgia" pitchFamily="34" charset="-122"/>
                <a:cs typeface="Georgia" pitchFamily="34" charset="-120"/>
              </a:rPr>
              <a:t>DEPARTURES</a:t>
            </a:r>
            <a:endParaRPr lang="en-US" sz="1800" dirty="0"/>
          </a:p>
        </p:txBody>
      </p:sp>
      <p:sp>
        <p:nvSpPr>
          <p:cNvPr id="6" name="Text 4"/>
          <p:cNvSpPr/>
          <p:nvPr/>
        </p:nvSpPr>
        <p:spPr>
          <a:xfrm>
            <a:off x="3909120" y="5882580"/>
            <a:ext cx="2171298" cy="571500"/>
          </a:xfrm>
          <a:prstGeom prst="rect">
            <a:avLst/>
          </a:prstGeom>
          <a:noFill/>
          <a:ln/>
        </p:spPr>
        <p:txBody>
          <a:bodyPr wrap="square" lIns="25400" tIns="25400" rIns="25400" bIns="25400" rtlCol="0" anchor="t">
            <a:normAutofit lnSpcReduction="10000"/>
          </a:bodyPr>
          <a:lstStyle/>
          <a:p>
            <a:pPr marL="0" indent="0" algn="l">
              <a:lnSpc>
                <a:spcPct val="88889"/>
              </a:lnSpc>
              <a:buNone/>
            </a:pPr>
            <a:r>
              <a:rPr lang="en-US" sz="4200" dirty="0">
                <a:solidFill>
                  <a:srgbClr val="F2EDE4"/>
                </a:solidFill>
                <a:latin typeface="Georgia" pitchFamily="34" charset="0"/>
                <a:ea typeface="Georgia" pitchFamily="34" charset="-122"/>
                <a:cs typeface="Georgia" pitchFamily="34" charset="-120"/>
              </a:rPr>
              <a:t>16.1%</a:t>
            </a:r>
            <a:endParaRPr lang="en-US" sz="4200" dirty="0"/>
          </a:p>
        </p:txBody>
      </p:sp>
      <p:sp>
        <p:nvSpPr>
          <p:cNvPr id="7" name="Text 5"/>
          <p:cNvSpPr/>
          <p:nvPr/>
        </p:nvSpPr>
        <p:spPr>
          <a:xfrm>
            <a:off x="3909120" y="6549330"/>
            <a:ext cx="217129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80" dirty="0">
                <a:solidFill>
                  <a:srgbClr val="7D8899"/>
                </a:solidFill>
                <a:latin typeface="Georgia" pitchFamily="34" charset="0"/>
                <a:ea typeface="Georgia" pitchFamily="34" charset="-122"/>
                <a:cs typeface="Georgia" pitchFamily="34" charset="-120"/>
              </a:rPr>
              <a:t>OF WORKFORCE</a:t>
            </a:r>
            <a:endParaRPr lang="en-US" sz="1800" dirty="0"/>
          </a:p>
        </p:txBody>
      </p:sp>
      <p:sp>
        <p:nvSpPr>
          <p:cNvPr id="8" name="Text 6"/>
          <p:cNvSpPr/>
          <p:nvPr/>
        </p:nvSpPr>
        <p:spPr>
          <a:xfrm>
            <a:off x="1238250" y="7436941"/>
            <a:ext cx="1739265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i="1" dirty="0">
                <a:solidFill>
                  <a:srgbClr val="66717F"/>
                </a:solidFill>
                <a:latin typeface="Georgia" pitchFamily="34" charset="0"/>
                <a:ea typeface="Georgia" pitchFamily="34" charset="-122"/>
                <a:cs typeface="Georgia" pitchFamily="34" charset="-120"/>
              </a:rPr>
              <a:t>Assumes a one-year observation window — see slide 10.</a:t>
            </a:r>
            <a:endParaRPr lang="en-US" sz="1800" dirty="0"/>
          </a:p>
        </p:txBody>
      </p:sp>
      <p:sp>
        <p:nvSpPr>
          <p:cNvPr id="9" name="Text 7"/>
          <p:cNvSpPr/>
          <p:nvPr/>
        </p:nvSpPr>
        <p:spPr>
          <a:xfrm>
            <a:off x="1238250" y="92088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10" name="Text 8"/>
          <p:cNvSpPr/>
          <p:nvPr/>
        </p:nvSpPr>
        <p:spPr>
          <a:xfrm>
            <a:off x="16794956" y="9208889"/>
            <a:ext cx="436976"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1666131"/>
            <a:ext cx="17392650" cy="708571"/>
          </a:xfrm>
          <a:prstGeom prst="rect">
            <a:avLst/>
          </a:prstGeom>
          <a:noFill/>
          <a:ln/>
        </p:spPr>
        <p:txBody>
          <a:bodyPr wrap="square" lIns="25400" tIns="25400" rIns="25400" bIns="25400" rtlCol="0" anchor="t">
            <a:normAutofit lnSpcReduction="10000"/>
          </a:bodyPr>
          <a:lstStyle/>
          <a:p>
            <a:pPr marL="0" indent="0" algn="l">
              <a:lnSpc>
                <a:spcPct val="96438"/>
              </a:lnSpc>
              <a:buNone/>
            </a:pPr>
            <a:r>
              <a:rPr lang="en-US" sz="4800" kern="0" spc="-72" dirty="0">
                <a:solidFill>
                  <a:srgbClr val="F2EDE4"/>
                </a:solidFill>
                <a:latin typeface="Georgia" pitchFamily="34" charset="0"/>
                <a:ea typeface="Georgia" pitchFamily="34" charset="-122"/>
                <a:cs typeface="Georgia" pitchFamily="34" charset="-120"/>
              </a:rPr>
              <a:t>Timing, Not Pay</a:t>
            </a:r>
            <a:endParaRPr lang="en-US" sz="4800" dirty="0"/>
          </a:p>
        </p:txBody>
      </p:sp>
      <p:sp>
        <p:nvSpPr>
          <p:cNvPr id="3" name="Text 1"/>
          <p:cNvSpPr/>
          <p:nvPr/>
        </p:nvSpPr>
        <p:spPr>
          <a:xfrm>
            <a:off x="1238250" y="3060502"/>
            <a:ext cx="1739265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TODAY</a:t>
            </a:r>
            <a:endParaRPr lang="en-US" sz="1800" dirty="0"/>
          </a:p>
        </p:txBody>
      </p:sp>
      <p:sp>
        <p:nvSpPr>
          <p:cNvPr id="4" name="Shape 2"/>
          <p:cNvSpPr/>
          <p:nvPr/>
        </p:nvSpPr>
        <p:spPr>
          <a:xfrm>
            <a:off x="1238250" y="3662362"/>
            <a:ext cx="2630835" cy="832396"/>
          </a:xfrm>
          <a:prstGeom prst="roundRect">
            <a:avLst>
              <a:gd name="adj" fmla="val 2289"/>
            </a:avLst>
          </a:prstGeom>
          <a:solidFill>
            <a:srgbClr val="18212E"/>
          </a:solidFill>
          <a:ln/>
        </p:spPr>
        <p:txBody>
          <a:bodyPr/>
          <a:lstStyle/>
          <a:p>
            <a:endParaRPr lang="en-ZA"/>
          </a:p>
        </p:txBody>
      </p:sp>
      <p:sp>
        <p:nvSpPr>
          <p:cNvPr id="5" name="Text 3"/>
          <p:cNvSpPr/>
          <p:nvPr/>
        </p:nvSpPr>
        <p:spPr>
          <a:xfrm>
            <a:off x="1504950" y="3871913"/>
            <a:ext cx="2176360" cy="451396"/>
          </a:xfrm>
          <a:prstGeom prst="rect">
            <a:avLst/>
          </a:prstGeom>
          <a:noFill/>
          <a:ln/>
        </p:spPr>
        <p:txBody>
          <a:bodyPr wrap="none" lIns="25400" tIns="25400" rIns="25400" bIns="25400" rtlCol="0" anchor="t">
            <a:normAutofit/>
          </a:bodyPr>
          <a:lstStyle/>
          <a:p>
            <a:pPr marL="0" indent="0" algn="l">
              <a:lnSpc>
                <a:spcPct val="135625"/>
              </a:lnSpc>
              <a:buNone/>
            </a:pPr>
            <a:r>
              <a:rPr lang="en-US" sz="2100" dirty="0">
                <a:solidFill>
                  <a:srgbClr val="F2EDE4"/>
                </a:solidFill>
                <a:latin typeface="Georgia" pitchFamily="34" charset="0"/>
                <a:ea typeface="Georgia" pitchFamily="34" charset="-122"/>
                <a:cs typeface="Georgia" pitchFamily="34" charset="-120"/>
              </a:rPr>
              <a:t>Employee decides</a:t>
            </a:r>
            <a:endParaRPr lang="en-US" sz="2100" dirty="0"/>
          </a:p>
        </p:txBody>
      </p:sp>
      <p:sp>
        <p:nvSpPr>
          <p:cNvPr id="6" name="Text 4"/>
          <p:cNvSpPr/>
          <p:nvPr/>
        </p:nvSpPr>
        <p:spPr>
          <a:xfrm>
            <a:off x="4078635" y="3886646"/>
            <a:ext cx="3238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7" name="Shape 5"/>
          <p:cNvSpPr/>
          <p:nvPr/>
        </p:nvSpPr>
        <p:spPr>
          <a:xfrm>
            <a:off x="4535835" y="3662362"/>
            <a:ext cx="2053679" cy="832396"/>
          </a:xfrm>
          <a:prstGeom prst="roundRect">
            <a:avLst>
              <a:gd name="adj" fmla="val 2289"/>
            </a:avLst>
          </a:prstGeom>
          <a:solidFill>
            <a:srgbClr val="18212E"/>
          </a:solidFill>
          <a:ln/>
        </p:spPr>
        <p:txBody>
          <a:bodyPr/>
          <a:lstStyle/>
          <a:p>
            <a:endParaRPr lang="en-ZA"/>
          </a:p>
        </p:txBody>
      </p:sp>
      <p:sp>
        <p:nvSpPr>
          <p:cNvPr id="8" name="Text 6"/>
          <p:cNvSpPr/>
          <p:nvPr/>
        </p:nvSpPr>
        <p:spPr>
          <a:xfrm>
            <a:off x="4802535" y="3871913"/>
            <a:ext cx="1596479" cy="451396"/>
          </a:xfrm>
          <a:prstGeom prst="rect">
            <a:avLst/>
          </a:prstGeom>
          <a:noFill/>
          <a:ln/>
        </p:spPr>
        <p:txBody>
          <a:bodyPr wrap="none" lIns="25400" tIns="25400" rIns="25400" bIns="25400" rtlCol="0" anchor="t">
            <a:normAutofit/>
          </a:bodyPr>
          <a:lstStyle/>
          <a:p>
            <a:pPr marL="0" indent="0" algn="l">
              <a:lnSpc>
                <a:spcPct val="135625"/>
              </a:lnSpc>
              <a:buNone/>
            </a:pPr>
            <a:r>
              <a:rPr lang="en-US" sz="2100" dirty="0">
                <a:solidFill>
                  <a:srgbClr val="F2EDE4"/>
                </a:solidFill>
                <a:latin typeface="Georgia" pitchFamily="34" charset="0"/>
                <a:ea typeface="Georgia" pitchFamily="34" charset="-122"/>
                <a:cs typeface="Georgia" pitchFamily="34" charset="-120"/>
              </a:rPr>
              <a:t>Secures offer</a:t>
            </a:r>
            <a:endParaRPr lang="en-US" sz="2100" dirty="0"/>
          </a:p>
        </p:txBody>
      </p:sp>
      <p:sp>
        <p:nvSpPr>
          <p:cNvPr id="9" name="Text 7"/>
          <p:cNvSpPr/>
          <p:nvPr/>
        </p:nvSpPr>
        <p:spPr>
          <a:xfrm>
            <a:off x="6799064" y="3886646"/>
            <a:ext cx="3238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10" name="Shape 8"/>
          <p:cNvSpPr/>
          <p:nvPr/>
        </p:nvSpPr>
        <p:spPr>
          <a:xfrm>
            <a:off x="7256264" y="3662362"/>
            <a:ext cx="1435447" cy="832396"/>
          </a:xfrm>
          <a:prstGeom prst="roundRect">
            <a:avLst>
              <a:gd name="adj" fmla="val 2289"/>
            </a:avLst>
          </a:prstGeom>
          <a:solidFill>
            <a:srgbClr val="18212E"/>
          </a:solidFill>
          <a:ln/>
        </p:spPr>
        <p:txBody>
          <a:bodyPr/>
          <a:lstStyle/>
          <a:p>
            <a:endParaRPr lang="en-ZA"/>
          </a:p>
        </p:txBody>
      </p:sp>
      <p:sp>
        <p:nvSpPr>
          <p:cNvPr id="11" name="Text 9"/>
          <p:cNvSpPr/>
          <p:nvPr/>
        </p:nvSpPr>
        <p:spPr>
          <a:xfrm>
            <a:off x="7522964" y="3871913"/>
            <a:ext cx="978247" cy="451396"/>
          </a:xfrm>
          <a:prstGeom prst="rect">
            <a:avLst/>
          </a:prstGeom>
          <a:noFill/>
          <a:ln/>
        </p:spPr>
        <p:txBody>
          <a:bodyPr wrap="none" lIns="25400" tIns="25400" rIns="25400" bIns="25400" rtlCol="0" anchor="t">
            <a:normAutofit/>
          </a:bodyPr>
          <a:lstStyle/>
          <a:p>
            <a:pPr marL="0" indent="0" algn="l">
              <a:lnSpc>
                <a:spcPct val="135625"/>
              </a:lnSpc>
              <a:buNone/>
            </a:pPr>
            <a:r>
              <a:rPr lang="en-US" sz="2100" dirty="0">
                <a:solidFill>
                  <a:srgbClr val="F2EDE4"/>
                </a:solidFill>
                <a:latin typeface="Georgia" pitchFamily="34" charset="0"/>
                <a:ea typeface="Georgia" pitchFamily="34" charset="-122"/>
                <a:cs typeface="Georgia" pitchFamily="34" charset="-120"/>
              </a:rPr>
              <a:t>Resigns</a:t>
            </a:r>
            <a:endParaRPr lang="en-US" sz="2100" dirty="0"/>
          </a:p>
        </p:txBody>
      </p:sp>
      <p:sp>
        <p:nvSpPr>
          <p:cNvPr id="12" name="Text 10"/>
          <p:cNvSpPr/>
          <p:nvPr/>
        </p:nvSpPr>
        <p:spPr>
          <a:xfrm>
            <a:off x="8901261" y="3886646"/>
            <a:ext cx="3238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13" name="Shape 11"/>
          <p:cNvSpPr/>
          <p:nvPr/>
        </p:nvSpPr>
        <p:spPr>
          <a:xfrm>
            <a:off x="9358461" y="3662362"/>
            <a:ext cx="2393305" cy="832396"/>
          </a:xfrm>
          <a:prstGeom prst="roundRect">
            <a:avLst>
              <a:gd name="adj" fmla="val 2289"/>
            </a:avLst>
          </a:prstGeom>
          <a:solidFill>
            <a:srgbClr val="E9A13B"/>
          </a:solidFill>
          <a:ln/>
        </p:spPr>
        <p:txBody>
          <a:bodyPr/>
          <a:lstStyle/>
          <a:p>
            <a:endParaRPr lang="en-ZA"/>
          </a:p>
        </p:txBody>
      </p:sp>
      <p:sp>
        <p:nvSpPr>
          <p:cNvPr id="14" name="Text 12"/>
          <p:cNvSpPr/>
          <p:nvPr/>
        </p:nvSpPr>
        <p:spPr>
          <a:xfrm>
            <a:off x="9522321" y="3871913"/>
            <a:ext cx="1859905" cy="451396"/>
          </a:xfrm>
          <a:prstGeom prst="rect">
            <a:avLst/>
          </a:prstGeom>
          <a:noFill/>
          <a:ln/>
        </p:spPr>
        <p:txBody>
          <a:bodyPr wrap="none" lIns="25400" tIns="25400" rIns="25400" bIns="25400" rtlCol="0" anchor="t">
            <a:normAutofit/>
          </a:bodyPr>
          <a:lstStyle/>
          <a:p>
            <a:pPr marL="0" indent="0" algn="l">
              <a:lnSpc>
                <a:spcPct val="135625"/>
              </a:lnSpc>
              <a:buNone/>
            </a:pPr>
            <a:r>
              <a:rPr lang="en-US" sz="2100" b="1" dirty="0">
                <a:solidFill>
                  <a:srgbClr val="101722"/>
                </a:solidFill>
                <a:latin typeface="Georgia" pitchFamily="34" charset="0"/>
                <a:ea typeface="Georgia" pitchFamily="34" charset="-122"/>
                <a:cs typeface="Georgia" pitchFamily="34" charset="-120"/>
              </a:rPr>
              <a:t>HR enters here</a:t>
            </a:r>
            <a:endParaRPr lang="en-US" sz="2100" dirty="0"/>
          </a:p>
        </p:txBody>
      </p:sp>
      <p:sp>
        <p:nvSpPr>
          <p:cNvPr id="15" name="Text 13"/>
          <p:cNvSpPr/>
          <p:nvPr/>
        </p:nvSpPr>
        <p:spPr>
          <a:xfrm>
            <a:off x="11961316" y="3886646"/>
            <a:ext cx="3238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16" name="Shape 14"/>
          <p:cNvSpPr/>
          <p:nvPr/>
        </p:nvSpPr>
        <p:spPr>
          <a:xfrm>
            <a:off x="12418516" y="3662362"/>
            <a:ext cx="1413272" cy="832396"/>
          </a:xfrm>
          <a:prstGeom prst="roundRect">
            <a:avLst>
              <a:gd name="adj" fmla="val 2289"/>
            </a:avLst>
          </a:prstGeom>
          <a:solidFill>
            <a:srgbClr val="18212E"/>
          </a:solidFill>
          <a:ln/>
        </p:spPr>
        <p:txBody>
          <a:bodyPr/>
          <a:lstStyle/>
          <a:p>
            <a:endParaRPr lang="en-ZA"/>
          </a:p>
        </p:txBody>
      </p:sp>
      <p:sp>
        <p:nvSpPr>
          <p:cNvPr id="17" name="Text 15"/>
          <p:cNvSpPr/>
          <p:nvPr/>
        </p:nvSpPr>
        <p:spPr>
          <a:xfrm>
            <a:off x="12685216" y="3871913"/>
            <a:ext cx="956072" cy="451396"/>
          </a:xfrm>
          <a:prstGeom prst="rect">
            <a:avLst/>
          </a:prstGeom>
          <a:noFill/>
          <a:ln/>
        </p:spPr>
        <p:txBody>
          <a:bodyPr wrap="none" lIns="25400" tIns="25400" rIns="25400" bIns="25400" rtlCol="0" anchor="t">
            <a:normAutofit/>
          </a:bodyPr>
          <a:lstStyle/>
          <a:p>
            <a:pPr marL="0" indent="0" algn="l">
              <a:lnSpc>
                <a:spcPct val="135625"/>
              </a:lnSpc>
              <a:buNone/>
            </a:pPr>
            <a:r>
              <a:rPr lang="en-US" sz="2100" dirty="0">
                <a:solidFill>
                  <a:srgbClr val="F2EDE4"/>
                </a:solidFill>
                <a:latin typeface="Georgia" pitchFamily="34" charset="0"/>
                <a:ea typeface="Georgia" pitchFamily="34" charset="-122"/>
                <a:cs typeface="Georgia" pitchFamily="34" charset="-120"/>
              </a:rPr>
              <a:t>Backfill</a:t>
            </a:r>
            <a:endParaRPr lang="en-US" sz="2100" dirty="0"/>
          </a:p>
        </p:txBody>
      </p:sp>
      <p:sp>
        <p:nvSpPr>
          <p:cNvPr id="18" name="Text 16"/>
          <p:cNvSpPr/>
          <p:nvPr/>
        </p:nvSpPr>
        <p:spPr>
          <a:xfrm>
            <a:off x="1238250" y="5180558"/>
            <a:ext cx="1739265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PROPOSED</a:t>
            </a:r>
            <a:endParaRPr lang="en-US" sz="1800" dirty="0"/>
          </a:p>
        </p:txBody>
      </p:sp>
      <p:sp>
        <p:nvSpPr>
          <p:cNvPr id="19" name="Shape 17"/>
          <p:cNvSpPr/>
          <p:nvPr/>
        </p:nvSpPr>
        <p:spPr>
          <a:xfrm>
            <a:off x="1238250" y="5782419"/>
            <a:ext cx="2066032" cy="832396"/>
          </a:xfrm>
          <a:prstGeom prst="roundRect">
            <a:avLst>
              <a:gd name="adj" fmla="val 2289"/>
            </a:avLst>
          </a:prstGeom>
          <a:solidFill>
            <a:srgbClr val="18212E"/>
          </a:solidFill>
          <a:ln/>
        </p:spPr>
        <p:txBody>
          <a:bodyPr/>
          <a:lstStyle/>
          <a:p>
            <a:endParaRPr lang="en-ZA"/>
          </a:p>
        </p:txBody>
      </p:sp>
      <p:sp>
        <p:nvSpPr>
          <p:cNvPr id="20" name="Text 18"/>
          <p:cNvSpPr/>
          <p:nvPr/>
        </p:nvSpPr>
        <p:spPr>
          <a:xfrm>
            <a:off x="1504950" y="5991969"/>
            <a:ext cx="1608832" cy="451396"/>
          </a:xfrm>
          <a:prstGeom prst="rect">
            <a:avLst/>
          </a:prstGeom>
          <a:noFill/>
          <a:ln/>
        </p:spPr>
        <p:txBody>
          <a:bodyPr wrap="none" lIns="25400" tIns="25400" rIns="25400" bIns="25400" rtlCol="0" anchor="t">
            <a:normAutofit/>
          </a:bodyPr>
          <a:lstStyle/>
          <a:p>
            <a:pPr marL="0" indent="0" algn="l">
              <a:lnSpc>
                <a:spcPct val="135625"/>
              </a:lnSpc>
              <a:buNone/>
            </a:pPr>
            <a:r>
              <a:rPr lang="en-US" sz="2100" dirty="0">
                <a:solidFill>
                  <a:srgbClr val="F2EDE4"/>
                </a:solidFill>
                <a:latin typeface="Georgia" pitchFamily="34" charset="0"/>
                <a:ea typeface="Georgia" pitchFamily="34" charset="-122"/>
                <a:cs typeface="Georgia" pitchFamily="34" charset="-120"/>
              </a:rPr>
              <a:t>Model scores</a:t>
            </a:r>
            <a:endParaRPr lang="en-US" sz="2100" dirty="0"/>
          </a:p>
        </p:txBody>
      </p:sp>
      <p:sp>
        <p:nvSpPr>
          <p:cNvPr id="21" name="Text 19"/>
          <p:cNvSpPr/>
          <p:nvPr/>
        </p:nvSpPr>
        <p:spPr>
          <a:xfrm>
            <a:off x="3513832" y="6006703"/>
            <a:ext cx="3238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22" name="Shape 20"/>
          <p:cNvSpPr/>
          <p:nvPr/>
        </p:nvSpPr>
        <p:spPr>
          <a:xfrm>
            <a:off x="3971032" y="5782419"/>
            <a:ext cx="1934914" cy="832396"/>
          </a:xfrm>
          <a:prstGeom prst="roundRect">
            <a:avLst>
              <a:gd name="adj" fmla="val 2289"/>
            </a:avLst>
          </a:prstGeom>
          <a:solidFill>
            <a:srgbClr val="18212E"/>
          </a:solidFill>
          <a:ln/>
        </p:spPr>
        <p:txBody>
          <a:bodyPr/>
          <a:lstStyle/>
          <a:p>
            <a:endParaRPr lang="en-ZA"/>
          </a:p>
        </p:txBody>
      </p:sp>
      <p:sp>
        <p:nvSpPr>
          <p:cNvPr id="23" name="Text 21"/>
          <p:cNvSpPr/>
          <p:nvPr/>
        </p:nvSpPr>
        <p:spPr>
          <a:xfrm>
            <a:off x="4237732" y="5991969"/>
            <a:ext cx="1477714" cy="451396"/>
          </a:xfrm>
          <a:prstGeom prst="rect">
            <a:avLst/>
          </a:prstGeom>
          <a:noFill/>
          <a:ln/>
        </p:spPr>
        <p:txBody>
          <a:bodyPr wrap="none" lIns="25400" tIns="25400" rIns="25400" bIns="25400" rtlCol="0" anchor="t">
            <a:normAutofit/>
          </a:bodyPr>
          <a:lstStyle/>
          <a:p>
            <a:pPr marL="0" indent="0" algn="l">
              <a:lnSpc>
                <a:spcPct val="135625"/>
              </a:lnSpc>
              <a:buNone/>
            </a:pPr>
            <a:r>
              <a:rPr lang="en-US" sz="2100" dirty="0">
                <a:solidFill>
                  <a:srgbClr val="F2EDE4"/>
                </a:solidFill>
                <a:latin typeface="Georgia" pitchFamily="34" charset="0"/>
                <a:ea typeface="Georgia" pitchFamily="34" charset="-122"/>
                <a:cs typeface="Georgia" pitchFamily="34" charset="-120"/>
              </a:rPr>
              <a:t>Risk flagged</a:t>
            </a:r>
            <a:endParaRPr lang="en-US" sz="2100" dirty="0"/>
          </a:p>
        </p:txBody>
      </p:sp>
      <p:sp>
        <p:nvSpPr>
          <p:cNvPr id="24" name="Text 22"/>
          <p:cNvSpPr/>
          <p:nvPr/>
        </p:nvSpPr>
        <p:spPr>
          <a:xfrm>
            <a:off x="6115496" y="6006703"/>
            <a:ext cx="3238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25" name="Shape 23"/>
          <p:cNvSpPr/>
          <p:nvPr/>
        </p:nvSpPr>
        <p:spPr>
          <a:xfrm>
            <a:off x="6572696" y="5782419"/>
            <a:ext cx="2578150" cy="832396"/>
          </a:xfrm>
          <a:prstGeom prst="roundRect">
            <a:avLst>
              <a:gd name="adj" fmla="val 2289"/>
            </a:avLst>
          </a:prstGeom>
          <a:solidFill>
            <a:srgbClr val="E9A13B"/>
          </a:solidFill>
          <a:ln/>
        </p:spPr>
        <p:txBody>
          <a:bodyPr/>
          <a:lstStyle/>
          <a:p>
            <a:endParaRPr lang="en-ZA"/>
          </a:p>
        </p:txBody>
      </p:sp>
      <p:sp>
        <p:nvSpPr>
          <p:cNvPr id="26" name="Text 24"/>
          <p:cNvSpPr/>
          <p:nvPr/>
        </p:nvSpPr>
        <p:spPr>
          <a:xfrm>
            <a:off x="6709293" y="6004396"/>
            <a:ext cx="2045894" cy="451396"/>
          </a:xfrm>
          <a:prstGeom prst="rect">
            <a:avLst/>
          </a:prstGeom>
          <a:noFill/>
          <a:ln/>
        </p:spPr>
        <p:txBody>
          <a:bodyPr wrap="none" lIns="25400" tIns="25400" rIns="25400" bIns="25400" rtlCol="0" anchor="t">
            <a:normAutofit/>
          </a:bodyPr>
          <a:lstStyle/>
          <a:p>
            <a:pPr marL="0" indent="0" algn="l">
              <a:lnSpc>
                <a:spcPct val="135625"/>
              </a:lnSpc>
              <a:buNone/>
            </a:pPr>
            <a:r>
              <a:rPr lang="en-US" sz="2100" b="1" dirty="0">
                <a:solidFill>
                  <a:srgbClr val="101722"/>
                </a:solidFill>
                <a:latin typeface="Georgia" pitchFamily="34" charset="0"/>
                <a:ea typeface="Georgia" pitchFamily="34" charset="-122"/>
                <a:cs typeface="Georgia" pitchFamily="34" charset="-120"/>
              </a:rPr>
              <a:t>HR conversation</a:t>
            </a:r>
            <a:endParaRPr lang="en-US" sz="2100" dirty="0"/>
          </a:p>
        </p:txBody>
      </p:sp>
      <p:sp>
        <p:nvSpPr>
          <p:cNvPr id="27" name="Text 25"/>
          <p:cNvSpPr/>
          <p:nvPr/>
        </p:nvSpPr>
        <p:spPr>
          <a:xfrm>
            <a:off x="9360396" y="6006703"/>
            <a:ext cx="3238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28" name="Shape 26"/>
          <p:cNvSpPr/>
          <p:nvPr/>
        </p:nvSpPr>
        <p:spPr>
          <a:xfrm>
            <a:off x="9817596" y="5782419"/>
            <a:ext cx="2630835" cy="832396"/>
          </a:xfrm>
          <a:prstGeom prst="roundRect">
            <a:avLst>
              <a:gd name="adj" fmla="val 2289"/>
            </a:avLst>
          </a:prstGeom>
          <a:solidFill>
            <a:srgbClr val="18212E"/>
          </a:solidFill>
          <a:ln/>
        </p:spPr>
        <p:txBody>
          <a:bodyPr/>
          <a:lstStyle/>
          <a:p>
            <a:endParaRPr lang="en-ZA"/>
          </a:p>
        </p:txBody>
      </p:sp>
      <p:sp>
        <p:nvSpPr>
          <p:cNvPr id="29" name="Text 27"/>
          <p:cNvSpPr/>
          <p:nvPr/>
        </p:nvSpPr>
        <p:spPr>
          <a:xfrm>
            <a:off x="10084296" y="5991969"/>
            <a:ext cx="2176360" cy="451396"/>
          </a:xfrm>
          <a:prstGeom prst="rect">
            <a:avLst/>
          </a:prstGeom>
          <a:noFill/>
          <a:ln/>
        </p:spPr>
        <p:txBody>
          <a:bodyPr wrap="none" lIns="25400" tIns="25400" rIns="25400" bIns="25400" rtlCol="0" anchor="t">
            <a:normAutofit/>
          </a:bodyPr>
          <a:lstStyle/>
          <a:p>
            <a:pPr marL="0" indent="0" algn="l">
              <a:lnSpc>
                <a:spcPct val="135625"/>
              </a:lnSpc>
              <a:buNone/>
            </a:pPr>
            <a:r>
              <a:rPr lang="en-US" sz="2100" dirty="0">
                <a:solidFill>
                  <a:srgbClr val="F2EDE4"/>
                </a:solidFill>
                <a:latin typeface="Georgia" pitchFamily="34" charset="0"/>
                <a:ea typeface="Georgia" pitchFamily="34" charset="-122"/>
                <a:cs typeface="Georgia" pitchFamily="34" charset="-120"/>
              </a:rPr>
              <a:t>Employee decides</a:t>
            </a:r>
            <a:endParaRPr lang="en-US" sz="2100" dirty="0"/>
          </a:p>
        </p:txBody>
      </p:sp>
      <p:sp>
        <p:nvSpPr>
          <p:cNvPr id="30" name="Text 28"/>
          <p:cNvSpPr/>
          <p:nvPr/>
        </p:nvSpPr>
        <p:spPr>
          <a:xfrm>
            <a:off x="1238250" y="7338715"/>
            <a:ext cx="17392650" cy="481012"/>
          </a:xfrm>
          <a:prstGeom prst="rect">
            <a:avLst/>
          </a:prstGeom>
          <a:noFill/>
          <a:ln/>
        </p:spPr>
        <p:txBody>
          <a:bodyPr wrap="square" lIns="25400" tIns="25400" rIns="25400" bIns="25400" rtlCol="0" anchor="t">
            <a:normAutofit/>
          </a:bodyPr>
          <a:lstStyle/>
          <a:p>
            <a:pPr marL="0" indent="0" algn="l">
              <a:lnSpc>
                <a:spcPct val="132857"/>
              </a:lnSpc>
              <a:buNone/>
            </a:pPr>
            <a:r>
              <a:rPr lang="en-US" sz="2250" dirty="0">
                <a:solidFill>
                  <a:srgbClr val="B9B0A2"/>
                </a:solidFill>
                <a:latin typeface="Georgia" pitchFamily="34" charset="0"/>
                <a:ea typeface="Georgia" pitchFamily="34" charset="-122"/>
                <a:cs typeface="Georgia" pitchFamily="34" charset="-120"/>
              </a:rPr>
              <a:t>Overtime: 30.5% departure rate against 10.4%.</a:t>
            </a:r>
            <a:endParaRPr lang="en-US" sz="2250" dirty="0"/>
          </a:p>
        </p:txBody>
      </p:sp>
      <p:sp>
        <p:nvSpPr>
          <p:cNvPr id="31" name="Text 29"/>
          <p:cNvSpPr/>
          <p:nvPr/>
        </p:nvSpPr>
        <p:spPr>
          <a:xfrm>
            <a:off x="1238250" y="92088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32" name="Text 30"/>
          <p:cNvSpPr/>
          <p:nvPr/>
        </p:nvSpPr>
        <p:spPr>
          <a:xfrm>
            <a:off x="16794955" y="9224516"/>
            <a:ext cx="746069" cy="376684"/>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1673360"/>
            <a:ext cx="17392650" cy="708571"/>
          </a:xfrm>
          <a:prstGeom prst="rect">
            <a:avLst/>
          </a:prstGeom>
          <a:noFill/>
          <a:ln/>
        </p:spPr>
        <p:txBody>
          <a:bodyPr wrap="square" lIns="25400" tIns="25400" rIns="25400" bIns="25400" rtlCol="0" anchor="t">
            <a:normAutofit lnSpcReduction="10000"/>
          </a:bodyPr>
          <a:lstStyle/>
          <a:p>
            <a:pPr marL="0" indent="0" algn="l">
              <a:lnSpc>
                <a:spcPct val="96438"/>
              </a:lnSpc>
              <a:buNone/>
            </a:pPr>
            <a:r>
              <a:rPr lang="en-US" sz="4800" kern="0" spc="-72" dirty="0">
                <a:solidFill>
                  <a:srgbClr val="F2EDE4"/>
                </a:solidFill>
                <a:latin typeface="Georgia" pitchFamily="34" charset="0"/>
                <a:ea typeface="Georgia" pitchFamily="34" charset="-122"/>
                <a:cs typeface="Georgia" pitchFamily="34" charset="-120"/>
              </a:rPr>
              <a:t>A Sensor, Not a Cure</a:t>
            </a:r>
            <a:endParaRPr lang="en-US" sz="4800" dirty="0"/>
          </a:p>
        </p:txBody>
      </p:sp>
      <p:sp>
        <p:nvSpPr>
          <p:cNvPr id="3" name="Text 1"/>
          <p:cNvSpPr/>
          <p:nvPr/>
        </p:nvSpPr>
        <p:spPr>
          <a:xfrm>
            <a:off x="1238250" y="3898782"/>
            <a:ext cx="2409825"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COMPRESSOR</a:t>
            </a:r>
            <a:endParaRPr lang="en-US" sz="1800" dirty="0"/>
          </a:p>
        </p:txBody>
      </p:sp>
      <p:sp>
        <p:nvSpPr>
          <p:cNvPr id="4" name="Shape 2"/>
          <p:cNvSpPr/>
          <p:nvPr/>
        </p:nvSpPr>
        <p:spPr>
          <a:xfrm>
            <a:off x="3429000" y="3674051"/>
            <a:ext cx="3019425" cy="803821"/>
          </a:xfrm>
          <a:prstGeom prst="roundRect">
            <a:avLst>
              <a:gd name="adj" fmla="val 2370"/>
            </a:avLst>
          </a:prstGeom>
          <a:solidFill>
            <a:srgbClr val="18212E"/>
          </a:solidFill>
          <a:ln/>
        </p:spPr>
        <p:txBody>
          <a:bodyPr/>
          <a:lstStyle/>
          <a:p>
            <a:endParaRPr lang="en-ZA"/>
          </a:p>
        </p:txBody>
      </p:sp>
      <p:sp>
        <p:nvSpPr>
          <p:cNvPr id="5" name="Text 3"/>
          <p:cNvSpPr/>
          <p:nvPr/>
        </p:nvSpPr>
        <p:spPr>
          <a:xfrm>
            <a:off x="3517059" y="3921701"/>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F2EDE4"/>
                </a:solidFill>
                <a:latin typeface="Georgia" pitchFamily="34" charset="0"/>
                <a:ea typeface="Georgia" pitchFamily="34" charset="-122"/>
                <a:cs typeface="Georgia" pitchFamily="34" charset="-120"/>
              </a:rPr>
              <a:t>Vibration sensor</a:t>
            </a:r>
            <a:endParaRPr lang="en-US" sz="2025" dirty="0"/>
          </a:p>
        </p:txBody>
      </p:sp>
      <p:sp>
        <p:nvSpPr>
          <p:cNvPr id="6" name="Text 4"/>
          <p:cNvSpPr/>
          <p:nvPr/>
        </p:nvSpPr>
        <p:spPr>
          <a:xfrm>
            <a:off x="6410325" y="3884048"/>
            <a:ext cx="590550" cy="421928"/>
          </a:xfrm>
          <a:prstGeom prst="rect">
            <a:avLst/>
          </a:prstGeom>
          <a:noFill/>
          <a:ln/>
        </p:spPr>
        <p:txBody>
          <a:bodyPr wrap="square" lIns="25400" tIns="25400" rIns="25400" bIns="25400" rtlCol="0" anchor="t">
            <a:normAutofit/>
          </a:bodyPr>
          <a:lstStyle/>
          <a:p>
            <a:pPr marL="0" indent="0" algn="ctr">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7" name="Shape 5"/>
          <p:cNvSpPr/>
          <p:nvPr/>
        </p:nvSpPr>
        <p:spPr>
          <a:xfrm>
            <a:off x="6962775" y="3674051"/>
            <a:ext cx="3019425" cy="803821"/>
          </a:xfrm>
          <a:prstGeom prst="roundRect">
            <a:avLst>
              <a:gd name="adj" fmla="val 2370"/>
            </a:avLst>
          </a:prstGeom>
          <a:solidFill>
            <a:srgbClr val="E9A13B"/>
          </a:solidFill>
          <a:ln/>
        </p:spPr>
        <p:txBody>
          <a:bodyPr/>
          <a:lstStyle/>
          <a:p>
            <a:endParaRPr lang="en-ZA"/>
          </a:p>
        </p:txBody>
      </p:sp>
      <p:sp>
        <p:nvSpPr>
          <p:cNvPr id="8" name="Text 6"/>
          <p:cNvSpPr/>
          <p:nvPr/>
        </p:nvSpPr>
        <p:spPr>
          <a:xfrm>
            <a:off x="7050834" y="3921701"/>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b="1" dirty="0">
                <a:solidFill>
                  <a:srgbClr val="101722"/>
                </a:solidFill>
                <a:latin typeface="Georgia" pitchFamily="34" charset="0"/>
                <a:ea typeface="Georgia" pitchFamily="34" charset="-122"/>
                <a:cs typeface="Georgia" pitchFamily="34" charset="-120"/>
              </a:rPr>
              <a:t>Lead time</a:t>
            </a:r>
            <a:endParaRPr lang="en-US" sz="2025" dirty="0"/>
          </a:p>
        </p:txBody>
      </p:sp>
      <p:sp>
        <p:nvSpPr>
          <p:cNvPr id="9" name="Text 7"/>
          <p:cNvSpPr/>
          <p:nvPr/>
        </p:nvSpPr>
        <p:spPr>
          <a:xfrm>
            <a:off x="9944100" y="3884048"/>
            <a:ext cx="590550" cy="421928"/>
          </a:xfrm>
          <a:prstGeom prst="rect">
            <a:avLst/>
          </a:prstGeom>
          <a:noFill/>
          <a:ln/>
        </p:spPr>
        <p:txBody>
          <a:bodyPr wrap="square" lIns="25400" tIns="25400" rIns="25400" bIns="25400" rtlCol="0" anchor="t">
            <a:normAutofit/>
          </a:bodyPr>
          <a:lstStyle/>
          <a:p>
            <a:pPr marL="0" indent="0" algn="ctr">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10" name="Shape 8"/>
          <p:cNvSpPr/>
          <p:nvPr/>
        </p:nvSpPr>
        <p:spPr>
          <a:xfrm>
            <a:off x="10496550" y="3674051"/>
            <a:ext cx="3019425" cy="803821"/>
          </a:xfrm>
          <a:prstGeom prst="roundRect">
            <a:avLst>
              <a:gd name="adj" fmla="val 2370"/>
            </a:avLst>
          </a:prstGeom>
          <a:solidFill>
            <a:srgbClr val="18212E"/>
          </a:solidFill>
          <a:ln/>
        </p:spPr>
        <p:txBody>
          <a:bodyPr/>
          <a:lstStyle/>
          <a:p>
            <a:endParaRPr lang="en-ZA"/>
          </a:p>
        </p:txBody>
      </p:sp>
      <p:sp>
        <p:nvSpPr>
          <p:cNvPr id="11" name="Text 9"/>
          <p:cNvSpPr/>
          <p:nvPr/>
        </p:nvSpPr>
        <p:spPr>
          <a:xfrm>
            <a:off x="10584609" y="3921701"/>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F2EDE4"/>
                </a:solidFill>
                <a:latin typeface="Georgia" pitchFamily="34" charset="0"/>
                <a:ea typeface="Georgia" pitchFamily="34" charset="-122"/>
                <a:cs typeface="Georgia" pitchFamily="34" charset="-120"/>
              </a:rPr>
              <a:t>Maintenance action</a:t>
            </a:r>
            <a:endParaRPr lang="en-US" sz="2025" dirty="0"/>
          </a:p>
        </p:txBody>
      </p:sp>
      <p:sp>
        <p:nvSpPr>
          <p:cNvPr id="12" name="Text 10"/>
          <p:cNvSpPr/>
          <p:nvPr/>
        </p:nvSpPr>
        <p:spPr>
          <a:xfrm>
            <a:off x="13477875" y="3884048"/>
            <a:ext cx="590550" cy="421928"/>
          </a:xfrm>
          <a:prstGeom prst="rect">
            <a:avLst/>
          </a:prstGeom>
          <a:noFill/>
          <a:ln/>
        </p:spPr>
        <p:txBody>
          <a:bodyPr wrap="square" lIns="25400" tIns="25400" rIns="25400" bIns="25400" rtlCol="0" anchor="t">
            <a:normAutofit/>
          </a:bodyPr>
          <a:lstStyle/>
          <a:p>
            <a:pPr marL="0" indent="0" algn="ctr">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13" name="Shape 11"/>
          <p:cNvSpPr/>
          <p:nvPr/>
        </p:nvSpPr>
        <p:spPr>
          <a:xfrm>
            <a:off x="14030325" y="3674051"/>
            <a:ext cx="3019425" cy="803821"/>
          </a:xfrm>
          <a:prstGeom prst="roundRect">
            <a:avLst>
              <a:gd name="adj" fmla="val 2370"/>
            </a:avLst>
          </a:prstGeom>
          <a:solidFill>
            <a:srgbClr val="18212E"/>
          </a:solidFill>
          <a:ln/>
        </p:spPr>
        <p:txBody>
          <a:bodyPr/>
          <a:lstStyle/>
          <a:p>
            <a:endParaRPr lang="en-ZA"/>
          </a:p>
        </p:txBody>
      </p:sp>
      <p:sp>
        <p:nvSpPr>
          <p:cNvPr id="14" name="Text 12"/>
          <p:cNvSpPr/>
          <p:nvPr/>
        </p:nvSpPr>
        <p:spPr>
          <a:xfrm>
            <a:off x="14118384" y="3921701"/>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F2EDE4"/>
                </a:solidFill>
                <a:latin typeface="Georgia" pitchFamily="34" charset="0"/>
                <a:ea typeface="Georgia" pitchFamily="34" charset="-122"/>
                <a:cs typeface="Georgia" pitchFamily="34" charset="-120"/>
              </a:rPr>
              <a:t>Failure avoided</a:t>
            </a:r>
            <a:endParaRPr lang="en-US" sz="2025" dirty="0"/>
          </a:p>
        </p:txBody>
      </p:sp>
      <p:sp>
        <p:nvSpPr>
          <p:cNvPr id="15" name="Text 13"/>
          <p:cNvSpPr/>
          <p:nvPr/>
        </p:nvSpPr>
        <p:spPr>
          <a:xfrm>
            <a:off x="1238250" y="6035725"/>
            <a:ext cx="2409825"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WORKFORCE</a:t>
            </a:r>
            <a:endParaRPr lang="en-US" sz="1800" dirty="0"/>
          </a:p>
        </p:txBody>
      </p:sp>
      <p:sp>
        <p:nvSpPr>
          <p:cNvPr id="16" name="Shape 14"/>
          <p:cNvSpPr/>
          <p:nvPr/>
        </p:nvSpPr>
        <p:spPr>
          <a:xfrm>
            <a:off x="3429000" y="5810994"/>
            <a:ext cx="3019425" cy="803821"/>
          </a:xfrm>
          <a:prstGeom prst="roundRect">
            <a:avLst>
              <a:gd name="adj" fmla="val 2370"/>
            </a:avLst>
          </a:prstGeom>
          <a:solidFill>
            <a:srgbClr val="18212E"/>
          </a:solidFill>
          <a:ln/>
        </p:spPr>
        <p:txBody>
          <a:bodyPr/>
          <a:lstStyle/>
          <a:p>
            <a:endParaRPr lang="en-ZA"/>
          </a:p>
        </p:txBody>
      </p:sp>
      <p:sp>
        <p:nvSpPr>
          <p:cNvPr id="17" name="Text 15"/>
          <p:cNvSpPr/>
          <p:nvPr/>
        </p:nvSpPr>
        <p:spPr>
          <a:xfrm>
            <a:off x="3517059" y="6058644"/>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F2EDE4"/>
                </a:solidFill>
                <a:latin typeface="Georgia" pitchFamily="34" charset="0"/>
                <a:ea typeface="Georgia" pitchFamily="34" charset="-122"/>
                <a:cs typeface="Georgia" pitchFamily="34" charset="-120"/>
              </a:rPr>
              <a:t>Attrition model</a:t>
            </a:r>
            <a:endParaRPr lang="en-US" sz="2025" dirty="0"/>
          </a:p>
        </p:txBody>
      </p:sp>
      <p:sp>
        <p:nvSpPr>
          <p:cNvPr id="18" name="Text 16"/>
          <p:cNvSpPr/>
          <p:nvPr/>
        </p:nvSpPr>
        <p:spPr>
          <a:xfrm>
            <a:off x="6410325" y="6020991"/>
            <a:ext cx="590550" cy="421928"/>
          </a:xfrm>
          <a:prstGeom prst="rect">
            <a:avLst/>
          </a:prstGeom>
          <a:noFill/>
          <a:ln/>
        </p:spPr>
        <p:txBody>
          <a:bodyPr wrap="square" lIns="25400" tIns="25400" rIns="25400" bIns="25400" rtlCol="0" anchor="t">
            <a:normAutofit/>
          </a:bodyPr>
          <a:lstStyle/>
          <a:p>
            <a:pPr marL="0" indent="0" algn="ctr">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19" name="Shape 17"/>
          <p:cNvSpPr/>
          <p:nvPr/>
        </p:nvSpPr>
        <p:spPr>
          <a:xfrm>
            <a:off x="6962775" y="5810994"/>
            <a:ext cx="3019425" cy="803821"/>
          </a:xfrm>
          <a:prstGeom prst="roundRect">
            <a:avLst>
              <a:gd name="adj" fmla="val 2370"/>
            </a:avLst>
          </a:prstGeom>
          <a:solidFill>
            <a:srgbClr val="E9A13B"/>
          </a:solidFill>
          <a:ln/>
        </p:spPr>
        <p:txBody>
          <a:bodyPr/>
          <a:lstStyle/>
          <a:p>
            <a:endParaRPr lang="en-ZA"/>
          </a:p>
        </p:txBody>
      </p:sp>
      <p:sp>
        <p:nvSpPr>
          <p:cNvPr id="20" name="Text 18"/>
          <p:cNvSpPr/>
          <p:nvPr/>
        </p:nvSpPr>
        <p:spPr>
          <a:xfrm>
            <a:off x="7050834" y="6058644"/>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b="1" dirty="0">
                <a:solidFill>
                  <a:srgbClr val="101722"/>
                </a:solidFill>
                <a:latin typeface="Georgia" pitchFamily="34" charset="0"/>
                <a:ea typeface="Georgia" pitchFamily="34" charset="-122"/>
                <a:cs typeface="Georgia" pitchFamily="34" charset="-120"/>
              </a:rPr>
              <a:t>Lead time</a:t>
            </a:r>
            <a:endParaRPr lang="en-US" sz="2025" dirty="0"/>
          </a:p>
        </p:txBody>
      </p:sp>
      <p:sp>
        <p:nvSpPr>
          <p:cNvPr id="21" name="Text 19"/>
          <p:cNvSpPr/>
          <p:nvPr/>
        </p:nvSpPr>
        <p:spPr>
          <a:xfrm>
            <a:off x="9944100" y="6020991"/>
            <a:ext cx="590550" cy="421928"/>
          </a:xfrm>
          <a:prstGeom prst="rect">
            <a:avLst/>
          </a:prstGeom>
          <a:noFill/>
          <a:ln/>
        </p:spPr>
        <p:txBody>
          <a:bodyPr wrap="square" lIns="25400" tIns="25400" rIns="25400" bIns="25400" rtlCol="0" anchor="t">
            <a:normAutofit/>
          </a:bodyPr>
          <a:lstStyle/>
          <a:p>
            <a:pPr marL="0" indent="0" algn="ctr">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22" name="Shape 20"/>
          <p:cNvSpPr/>
          <p:nvPr/>
        </p:nvSpPr>
        <p:spPr>
          <a:xfrm>
            <a:off x="10496550" y="5810994"/>
            <a:ext cx="3019425" cy="803821"/>
          </a:xfrm>
          <a:prstGeom prst="roundRect">
            <a:avLst>
              <a:gd name="adj" fmla="val 2370"/>
            </a:avLst>
          </a:prstGeom>
          <a:solidFill>
            <a:srgbClr val="18212E"/>
          </a:solidFill>
          <a:ln/>
        </p:spPr>
        <p:txBody>
          <a:bodyPr/>
          <a:lstStyle/>
          <a:p>
            <a:endParaRPr lang="en-ZA"/>
          </a:p>
        </p:txBody>
      </p:sp>
      <p:sp>
        <p:nvSpPr>
          <p:cNvPr id="23" name="Text 21"/>
          <p:cNvSpPr/>
          <p:nvPr/>
        </p:nvSpPr>
        <p:spPr>
          <a:xfrm>
            <a:off x="10584609" y="6058644"/>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F2EDE4"/>
                </a:solidFill>
                <a:latin typeface="Georgia" pitchFamily="34" charset="0"/>
                <a:ea typeface="Georgia" pitchFamily="34" charset="-122"/>
                <a:cs typeface="Georgia" pitchFamily="34" charset="-120"/>
              </a:rPr>
              <a:t>Retention conversation</a:t>
            </a:r>
            <a:endParaRPr lang="en-US" sz="2025" dirty="0"/>
          </a:p>
        </p:txBody>
      </p:sp>
      <p:sp>
        <p:nvSpPr>
          <p:cNvPr id="24" name="Text 22"/>
          <p:cNvSpPr/>
          <p:nvPr/>
        </p:nvSpPr>
        <p:spPr>
          <a:xfrm>
            <a:off x="13477875" y="6020991"/>
            <a:ext cx="590550" cy="421928"/>
          </a:xfrm>
          <a:prstGeom prst="rect">
            <a:avLst/>
          </a:prstGeom>
          <a:noFill/>
          <a:ln/>
        </p:spPr>
        <p:txBody>
          <a:bodyPr wrap="square" lIns="25400" tIns="25400" rIns="25400" bIns="25400" rtlCol="0" anchor="t">
            <a:normAutofit/>
          </a:bodyPr>
          <a:lstStyle/>
          <a:p>
            <a:pPr marL="0" indent="0" algn="ctr">
              <a:lnSpc>
                <a:spcPct val="134333"/>
              </a:lnSpc>
              <a:buNone/>
            </a:pPr>
            <a:r>
              <a:rPr lang="en-US" sz="1950" dirty="0">
                <a:solidFill>
                  <a:srgbClr val="66717F"/>
                </a:solidFill>
                <a:latin typeface="Georgia" pitchFamily="34" charset="0"/>
                <a:ea typeface="Georgia" pitchFamily="34" charset="-122"/>
                <a:cs typeface="Georgia" pitchFamily="34" charset="-120"/>
              </a:rPr>
              <a:t>→</a:t>
            </a:r>
            <a:endParaRPr lang="en-US" sz="1950" dirty="0"/>
          </a:p>
        </p:txBody>
      </p:sp>
      <p:sp>
        <p:nvSpPr>
          <p:cNvPr id="25" name="Shape 23"/>
          <p:cNvSpPr/>
          <p:nvPr/>
        </p:nvSpPr>
        <p:spPr>
          <a:xfrm>
            <a:off x="14030325" y="5810994"/>
            <a:ext cx="3019425" cy="803821"/>
          </a:xfrm>
          <a:prstGeom prst="roundRect">
            <a:avLst>
              <a:gd name="adj" fmla="val 2370"/>
            </a:avLst>
          </a:prstGeom>
          <a:solidFill>
            <a:srgbClr val="18212E"/>
          </a:solidFill>
          <a:ln/>
        </p:spPr>
        <p:txBody>
          <a:bodyPr/>
          <a:lstStyle/>
          <a:p>
            <a:endParaRPr lang="en-ZA"/>
          </a:p>
        </p:txBody>
      </p:sp>
      <p:sp>
        <p:nvSpPr>
          <p:cNvPr id="26" name="Text 24"/>
          <p:cNvSpPr/>
          <p:nvPr/>
        </p:nvSpPr>
        <p:spPr>
          <a:xfrm>
            <a:off x="14118384" y="6058644"/>
            <a:ext cx="2843308" cy="346621"/>
          </a:xfrm>
          <a:prstGeom prst="rect">
            <a:avLst/>
          </a:prstGeom>
          <a:noFill/>
          <a:ln/>
        </p:spPr>
        <p:txBody>
          <a:bodyPr wrap="square" lIns="25400" tIns="25400" rIns="25400" bIns="25400" rtlCol="0" anchor="t">
            <a:normAutofit lnSpcReduction="10000"/>
          </a:bodyPr>
          <a:lstStyle/>
          <a:p>
            <a:pPr marL="0" indent="0" algn="ctr">
              <a:lnSpc>
                <a:spcPct val="104516"/>
              </a:lnSpc>
              <a:buNone/>
            </a:pPr>
            <a:r>
              <a:rPr lang="en-US" sz="2025" dirty="0">
                <a:solidFill>
                  <a:srgbClr val="F2EDE4"/>
                </a:solidFill>
                <a:latin typeface="Georgia" pitchFamily="34" charset="0"/>
                <a:ea typeface="Georgia" pitchFamily="34" charset="-122"/>
                <a:cs typeface="Georgia" pitchFamily="34" charset="-120"/>
              </a:rPr>
              <a:t>Departure avoided</a:t>
            </a:r>
            <a:endParaRPr lang="en-US" sz="2025" dirty="0"/>
          </a:p>
        </p:txBody>
      </p:sp>
      <p:sp>
        <p:nvSpPr>
          <p:cNvPr id="27" name="Text 25"/>
          <p:cNvSpPr/>
          <p:nvPr/>
        </p:nvSpPr>
        <p:spPr>
          <a:xfrm>
            <a:off x="1238250" y="7258725"/>
            <a:ext cx="17392650" cy="539948"/>
          </a:xfrm>
          <a:prstGeom prst="rect">
            <a:avLst/>
          </a:prstGeom>
          <a:noFill/>
          <a:ln/>
        </p:spPr>
        <p:txBody>
          <a:bodyPr wrap="square" lIns="25400" tIns="25400" rIns="25400" bIns="25400" rtlCol="0" anchor="t">
            <a:normAutofit/>
          </a:bodyPr>
          <a:lstStyle/>
          <a:p>
            <a:pPr marL="0" indent="0" algn="l">
              <a:lnSpc>
                <a:spcPct val="138684"/>
              </a:lnSpc>
              <a:buNone/>
            </a:pPr>
            <a:r>
              <a:rPr lang="en-US" sz="2550" i="1" dirty="0">
                <a:solidFill>
                  <a:srgbClr val="B9B0A2"/>
                </a:solidFill>
                <a:latin typeface="Georgia" pitchFamily="34" charset="0"/>
                <a:ea typeface="Georgia" pitchFamily="34" charset="-122"/>
                <a:cs typeface="Georgia" pitchFamily="34" charset="-120"/>
              </a:rPr>
              <a:t>The sensor creates the opportunity. The action captures the value.</a:t>
            </a:r>
            <a:endParaRPr lang="en-US" sz="2550" dirty="0"/>
          </a:p>
        </p:txBody>
      </p:sp>
      <p:sp>
        <p:nvSpPr>
          <p:cNvPr id="28" name="Text 26"/>
          <p:cNvSpPr/>
          <p:nvPr/>
        </p:nvSpPr>
        <p:spPr>
          <a:xfrm>
            <a:off x="1238250" y="92088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29" name="Text 27"/>
          <p:cNvSpPr/>
          <p:nvPr/>
        </p:nvSpPr>
        <p:spPr>
          <a:xfrm>
            <a:off x="16794955" y="9208889"/>
            <a:ext cx="591523"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571500"/>
            <a:ext cx="17392650" cy="624780"/>
          </a:xfrm>
          <a:prstGeom prst="rect">
            <a:avLst/>
          </a:prstGeom>
          <a:noFill/>
          <a:ln/>
        </p:spPr>
        <p:txBody>
          <a:bodyPr wrap="square" lIns="25400" tIns="25400" rIns="25400" bIns="25400" rtlCol="0" anchor="t">
            <a:normAutofit lnSpcReduction="10000"/>
          </a:bodyPr>
          <a:lstStyle/>
          <a:p>
            <a:pPr marL="0" indent="0" algn="l">
              <a:lnSpc>
                <a:spcPct val="97778"/>
              </a:lnSpc>
              <a:buNone/>
            </a:pPr>
            <a:r>
              <a:rPr lang="en-US" sz="4200" kern="0" spc="-63" dirty="0">
                <a:solidFill>
                  <a:srgbClr val="F2EDE4"/>
                </a:solidFill>
                <a:latin typeface="Georgia" pitchFamily="34" charset="0"/>
                <a:ea typeface="Georgia" pitchFamily="34" charset="-122"/>
                <a:cs typeface="Georgia" pitchFamily="34" charset="-120"/>
              </a:rPr>
              <a:t>What the Data Knows</a:t>
            </a:r>
            <a:endParaRPr lang="en-US" sz="4200" dirty="0"/>
          </a:p>
        </p:txBody>
      </p:sp>
      <p:sp>
        <p:nvSpPr>
          <p:cNvPr id="3" name="Text 1"/>
          <p:cNvSpPr/>
          <p:nvPr/>
        </p:nvSpPr>
        <p:spPr>
          <a:xfrm>
            <a:off x="1238250" y="1348680"/>
            <a:ext cx="17392650" cy="510480"/>
          </a:xfrm>
          <a:prstGeom prst="rect">
            <a:avLst/>
          </a:prstGeom>
          <a:noFill/>
          <a:ln/>
        </p:spPr>
        <p:txBody>
          <a:bodyPr wrap="square" lIns="25400" tIns="25400" rIns="25400" bIns="25400" rtlCol="0" anchor="t">
            <a:normAutofit/>
          </a:bodyPr>
          <a:lstStyle/>
          <a:p>
            <a:pPr marL="0" indent="0" algn="l">
              <a:lnSpc>
                <a:spcPct val="137778"/>
              </a:lnSpc>
              <a:buNone/>
            </a:pPr>
            <a:r>
              <a:rPr lang="en-US" sz="2400" dirty="0">
                <a:solidFill>
                  <a:srgbClr val="E9A13B"/>
                </a:solidFill>
                <a:latin typeface="Georgia" pitchFamily="34" charset="0"/>
                <a:ea typeface="Georgia" pitchFamily="34" charset="-122"/>
                <a:cs typeface="Georgia" pitchFamily="34" charset="-120"/>
              </a:rPr>
              <a:t>2.9× departure rate on a variable we control.</a:t>
            </a:r>
            <a:endParaRPr lang="en-US" sz="2400" dirty="0"/>
          </a:p>
        </p:txBody>
      </p:sp>
      <p:sp>
        <p:nvSpPr>
          <p:cNvPr id="4" name="Shape 2"/>
          <p:cNvSpPr/>
          <p:nvPr/>
        </p:nvSpPr>
        <p:spPr>
          <a:xfrm>
            <a:off x="1238250" y="2202061"/>
            <a:ext cx="14859000" cy="5748338"/>
          </a:xfrm>
          <a:prstGeom prst="roundRect">
            <a:avLst>
              <a:gd name="adj" fmla="val 331"/>
            </a:avLst>
          </a:prstGeom>
          <a:solidFill>
            <a:srgbClr val="0F1723"/>
          </a:solidFill>
          <a:ln/>
        </p:spPr>
        <p:txBody>
          <a:bodyPr/>
          <a:lstStyle/>
          <a:p>
            <a:endParaRPr lang="en-ZA"/>
          </a:p>
        </p:txBody>
      </p:sp>
      <p:pic>
        <p:nvPicPr>
          <p:cNvPr id="5" name="Image 0" descr="preencoded.png"/>
          <p:cNvPicPr>
            <a:picLocks noChangeAspect="1"/>
          </p:cNvPicPr>
          <p:nvPr/>
        </p:nvPicPr>
        <p:blipFill>
          <a:blip r:embed="rId3"/>
          <a:stretch>
            <a:fillRect/>
          </a:stretch>
        </p:blipFill>
        <p:spPr>
          <a:xfrm>
            <a:off x="1238250" y="2202061"/>
            <a:ext cx="14859000" cy="5748338"/>
          </a:xfrm>
          <a:prstGeom prst="rect">
            <a:avLst/>
          </a:prstGeom>
        </p:spPr>
      </p:pic>
      <p:sp>
        <p:nvSpPr>
          <p:cNvPr id="6" name="Text 3"/>
          <p:cNvSpPr/>
          <p:nvPr/>
        </p:nvSpPr>
        <p:spPr>
          <a:xfrm>
            <a:off x="1238250" y="8331398"/>
            <a:ext cx="173926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No single variable predicts departure — the strongest correlation is 0.17.</a:t>
            </a:r>
            <a:endParaRPr lang="en-US" sz="1950" dirty="0"/>
          </a:p>
        </p:txBody>
      </p:sp>
      <p:sp>
        <p:nvSpPr>
          <p:cNvPr id="7" name="Text 4"/>
          <p:cNvSpPr/>
          <p:nvPr/>
        </p:nvSpPr>
        <p:spPr>
          <a:xfrm>
            <a:off x="1238250" y="934223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8" name="Text 5"/>
          <p:cNvSpPr/>
          <p:nvPr/>
        </p:nvSpPr>
        <p:spPr>
          <a:xfrm>
            <a:off x="16794956" y="9342239"/>
            <a:ext cx="64303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571500"/>
            <a:ext cx="17392650" cy="624780"/>
          </a:xfrm>
          <a:prstGeom prst="rect">
            <a:avLst/>
          </a:prstGeom>
          <a:noFill/>
          <a:ln/>
        </p:spPr>
        <p:txBody>
          <a:bodyPr wrap="square" lIns="25400" tIns="25400" rIns="25400" bIns="25400" rtlCol="0" anchor="t">
            <a:normAutofit lnSpcReduction="10000"/>
          </a:bodyPr>
          <a:lstStyle/>
          <a:p>
            <a:pPr marL="0" indent="0" algn="l">
              <a:lnSpc>
                <a:spcPct val="97778"/>
              </a:lnSpc>
              <a:buNone/>
            </a:pPr>
            <a:r>
              <a:rPr lang="en-US" sz="4200" kern="0" spc="-63" dirty="0">
                <a:solidFill>
                  <a:srgbClr val="F2EDE4"/>
                </a:solidFill>
                <a:latin typeface="Georgia" pitchFamily="34" charset="0"/>
                <a:ea typeface="Georgia" pitchFamily="34" charset="-122"/>
                <a:cs typeface="Georgia" pitchFamily="34" charset="-120"/>
              </a:rPr>
              <a:t>Validated Performance</a:t>
            </a:r>
            <a:endParaRPr lang="en-US" sz="4200" dirty="0"/>
          </a:p>
        </p:txBody>
      </p:sp>
      <p:sp>
        <p:nvSpPr>
          <p:cNvPr id="3" name="Shape 1"/>
          <p:cNvSpPr/>
          <p:nvPr/>
        </p:nvSpPr>
        <p:spPr>
          <a:xfrm>
            <a:off x="1238250" y="1386780"/>
            <a:ext cx="14859000" cy="5748338"/>
          </a:xfrm>
          <a:prstGeom prst="roundRect">
            <a:avLst>
              <a:gd name="adj" fmla="val 331"/>
            </a:avLst>
          </a:prstGeom>
          <a:solidFill>
            <a:srgbClr val="0F1723"/>
          </a:solidFill>
          <a:ln/>
        </p:spPr>
        <p:txBody>
          <a:bodyPr/>
          <a:lstStyle/>
          <a:p>
            <a:endParaRPr lang="en-ZA"/>
          </a:p>
        </p:txBody>
      </p:sp>
      <p:pic>
        <p:nvPicPr>
          <p:cNvPr id="4" name="Image 0" descr="preencoded.png"/>
          <p:cNvPicPr>
            <a:picLocks noChangeAspect="1"/>
          </p:cNvPicPr>
          <p:nvPr/>
        </p:nvPicPr>
        <p:blipFill>
          <a:blip r:embed="rId3"/>
          <a:stretch>
            <a:fillRect/>
          </a:stretch>
        </p:blipFill>
        <p:spPr>
          <a:xfrm>
            <a:off x="1238250" y="1386780"/>
            <a:ext cx="14859000" cy="5748338"/>
          </a:xfrm>
          <a:prstGeom prst="rect">
            <a:avLst/>
          </a:prstGeom>
        </p:spPr>
      </p:pic>
      <p:sp>
        <p:nvSpPr>
          <p:cNvPr id="5" name="Text 2"/>
          <p:cNvSpPr/>
          <p:nvPr/>
        </p:nvSpPr>
        <p:spPr>
          <a:xfrm>
            <a:off x="1238250" y="7363718"/>
            <a:ext cx="1698133" cy="590550"/>
          </a:xfrm>
          <a:prstGeom prst="rect">
            <a:avLst/>
          </a:prstGeom>
          <a:noFill/>
          <a:ln/>
        </p:spPr>
        <p:txBody>
          <a:bodyPr wrap="square" lIns="25400" tIns="25400" rIns="25400" bIns="25400" rtlCol="0" anchor="t">
            <a:normAutofit lnSpcReduction="10000"/>
          </a:bodyPr>
          <a:lstStyle/>
          <a:p>
            <a:pPr marL="0" indent="0" algn="l">
              <a:lnSpc>
                <a:spcPct val="87879"/>
              </a:lnSpc>
              <a:buNone/>
            </a:pPr>
            <a:r>
              <a:rPr lang="en-US" sz="4350" dirty="0">
                <a:solidFill>
                  <a:srgbClr val="E9A13B"/>
                </a:solidFill>
                <a:latin typeface="Georgia" pitchFamily="34" charset="0"/>
                <a:ea typeface="Georgia" pitchFamily="34" charset="-122"/>
                <a:cs typeface="Georgia" pitchFamily="34" charset="-120"/>
              </a:rPr>
              <a:t>0.813</a:t>
            </a:r>
            <a:endParaRPr lang="en-US" sz="4350" dirty="0"/>
          </a:p>
        </p:txBody>
      </p:sp>
      <p:sp>
        <p:nvSpPr>
          <p:cNvPr id="6" name="Text 3"/>
          <p:cNvSpPr/>
          <p:nvPr/>
        </p:nvSpPr>
        <p:spPr>
          <a:xfrm>
            <a:off x="1238250" y="8011418"/>
            <a:ext cx="1262955"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kern="0" spc="195" dirty="0">
                <a:solidFill>
                  <a:srgbClr val="8C98A8"/>
                </a:solidFill>
                <a:latin typeface="Georgia" pitchFamily="34" charset="0"/>
                <a:ea typeface="Georgia" pitchFamily="34" charset="-122"/>
                <a:cs typeface="Georgia" pitchFamily="34" charset="-120"/>
              </a:rPr>
              <a:t>AUC</a:t>
            </a:r>
            <a:endParaRPr lang="en-US" sz="1950" dirty="0"/>
          </a:p>
        </p:txBody>
      </p:sp>
      <p:sp>
        <p:nvSpPr>
          <p:cNvPr id="7" name="Text 4"/>
          <p:cNvSpPr/>
          <p:nvPr/>
        </p:nvSpPr>
        <p:spPr>
          <a:xfrm>
            <a:off x="3568005" y="7363718"/>
            <a:ext cx="3438748" cy="590550"/>
          </a:xfrm>
          <a:prstGeom prst="rect">
            <a:avLst/>
          </a:prstGeom>
          <a:noFill/>
          <a:ln/>
        </p:spPr>
        <p:txBody>
          <a:bodyPr wrap="square" lIns="25400" tIns="25400" rIns="25400" bIns="25400" rtlCol="0" anchor="t">
            <a:normAutofit lnSpcReduction="10000"/>
          </a:bodyPr>
          <a:lstStyle/>
          <a:p>
            <a:pPr marL="0" indent="0" algn="l">
              <a:lnSpc>
                <a:spcPct val="87879"/>
              </a:lnSpc>
              <a:buNone/>
            </a:pPr>
            <a:r>
              <a:rPr lang="en-US" sz="4350" dirty="0">
                <a:solidFill>
                  <a:srgbClr val="F2EDE4"/>
                </a:solidFill>
                <a:latin typeface="Georgia" pitchFamily="34" charset="0"/>
                <a:ea typeface="Georgia" pitchFamily="34" charset="-122"/>
                <a:cs typeface="Georgia" pitchFamily="34" charset="-120"/>
              </a:rPr>
              <a:t>65%</a:t>
            </a:r>
            <a:endParaRPr lang="en-US" sz="4350" dirty="0"/>
          </a:p>
        </p:txBody>
      </p:sp>
      <p:sp>
        <p:nvSpPr>
          <p:cNvPr id="8" name="Text 5"/>
          <p:cNvSpPr/>
          <p:nvPr/>
        </p:nvSpPr>
        <p:spPr>
          <a:xfrm>
            <a:off x="3568005" y="8011418"/>
            <a:ext cx="3438748"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Recall — of leavers identified</a:t>
            </a:r>
            <a:endParaRPr lang="en-US" sz="1950" dirty="0"/>
          </a:p>
        </p:txBody>
      </p:sp>
      <p:sp>
        <p:nvSpPr>
          <p:cNvPr id="9" name="Text 6"/>
          <p:cNvSpPr/>
          <p:nvPr/>
        </p:nvSpPr>
        <p:spPr>
          <a:xfrm>
            <a:off x="7837140" y="7363718"/>
            <a:ext cx="3802187" cy="590550"/>
          </a:xfrm>
          <a:prstGeom prst="rect">
            <a:avLst/>
          </a:prstGeom>
          <a:noFill/>
          <a:ln/>
        </p:spPr>
        <p:txBody>
          <a:bodyPr wrap="square" lIns="25400" tIns="25400" rIns="25400" bIns="25400" rtlCol="0" anchor="t">
            <a:normAutofit lnSpcReduction="10000"/>
          </a:bodyPr>
          <a:lstStyle/>
          <a:p>
            <a:pPr marL="0" indent="0" algn="l">
              <a:lnSpc>
                <a:spcPct val="87879"/>
              </a:lnSpc>
              <a:buNone/>
            </a:pPr>
            <a:r>
              <a:rPr lang="en-US" sz="4350" dirty="0">
                <a:solidFill>
                  <a:srgbClr val="F2EDE4"/>
                </a:solidFill>
                <a:latin typeface="Georgia" pitchFamily="34" charset="0"/>
                <a:ea typeface="Georgia" pitchFamily="34" charset="-122"/>
                <a:cs typeface="Georgia" pitchFamily="34" charset="-120"/>
              </a:rPr>
              <a:t>43%</a:t>
            </a:r>
            <a:endParaRPr lang="en-US" sz="4350" dirty="0"/>
          </a:p>
        </p:txBody>
      </p:sp>
      <p:sp>
        <p:nvSpPr>
          <p:cNvPr id="10" name="Text 7"/>
          <p:cNvSpPr/>
          <p:nvPr/>
        </p:nvSpPr>
        <p:spPr>
          <a:xfrm>
            <a:off x="7837140" y="8011418"/>
            <a:ext cx="3802187"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Precision — of flags are genuine</a:t>
            </a:r>
            <a:endParaRPr lang="en-US" sz="1950" dirty="0"/>
          </a:p>
        </p:txBody>
      </p:sp>
      <p:sp>
        <p:nvSpPr>
          <p:cNvPr id="11" name="Text 8"/>
          <p:cNvSpPr/>
          <p:nvPr/>
        </p:nvSpPr>
        <p:spPr>
          <a:xfrm>
            <a:off x="1238250" y="8642896"/>
            <a:ext cx="1739265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Nested cross-validation — 1,470 employees, no data leakage.</a:t>
            </a:r>
            <a:endParaRPr lang="en-US" sz="1950" dirty="0"/>
          </a:p>
        </p:txBody>
      </p:sp>
      <p:sp>
        <p:nvSpPr>
          <p:cNvPr id="12" name="Text 9"/>
          <p:cNvSpPr/>
          <p:nvPr/>
        </p:nvSpPr>
        <p:spPr>
          <a:xfrm>
            <a:off x="1238250" y="934223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13" name="Text 10"/>
          <p:cNvSpPr/>
          <p:nvPr/>
        </p:nvSpPr>
        <p:spPr>
          <a:xfrm>
            <a:off x="16794955" y="9342239"/>
            <a:ext cx="630159" cy="37326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1377356"/>
            <a:ext cx="17392650" cy="708571"/>
          </a:xfrm>
          <a:prstGeom prst="rect">
            <a:avLst/>
          </a:prstGeom>
          <a:noFill/>
          <a:ln/>
        </p:spPr>
        <p:txBody>
          <a:bodyPr wrap="square" lIns="25400" tIns="25400" rIns="25400" bIns="25400" rtlCol="0" anchor="t">
            <a:normAutofit lnSpcReduction="10000"/>
          </a:bodyPr>
          <a:lstStyle/>
          <a:p>
            <a:pPr marL="0" indent="0" algn="l">
              <a:lnSpc>
                <a:spcPct val="96438"/>
              </a:lnSpc>
              <a:buNone/>
            </a:pPr>
            <a:r>
              <a:rPr lang="en-US" sz="4800" kern="0" spc="-72" dirty="0">
                <a:solidFill>
                  <a:srgbClr val="F2EDE4"/>
                </a:solidFill>
                <a:latin typeface="Georgia" pitchFamily="34" charset="0"/>
                <a:ea typeface="Georgia" pitchFamily="34" charset="-122"/>
                <a:cs typeface="Georgia" pitchFamily="34" charset="-120"/>
              </a:rPr>
              <a:t>Fair by Construction</a:t>
            </a:r>
            <a:endParaRPr lang="en-US" sz="4800" dirty="0"/>
          </a:p>
        </p:txBody>
      </p:sp>
      <p:sp>
        <p:nvSpPr>
          <p:cNvPr id="3" name="Text 1"/>
          <p:cNvSpPr/>
          <p:nvPr/>
        </p:nvSpPr>
        <p:spPr>
          <a:xfrm>
            <a:off x="1238250" y="3249365"/>
            <a:ext cx="801528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EXCLUDED</a:t>
            </a:r>
            <a:endParaRPr lang="en-US" sz="1800" dirty="0"/>
          </a:p>
        </p:txBody>
      </p:sp>
      <p:sp>
        <p:nvSpPr>
          <p:cNvPr id="4" name="Text 2"/>
          <p:cNvSpPr/>
          <p:nvPr/>
        </p:nvSpPr>
        <p:spPr>
          <a:xfrm>
            <a:off x="1238250" y="3946476"/>
            <a:ext cx="8015288" cy="569565"/>
          </a:xfrm>
          <a:prstGeom prst="rect">
            <a:avLst/>
          </a:prstGeom>
          <a:noFill/>
          <a:ln/>
        </p:spPr>
        <p:txBody>
          <a:bodyPr wrap="square" lIns="25400" tIns="25400" rIns="25400" bIns="25400" rtlCol="0" anchor="t">
            <a:normAutofit/>
          </a:bodyPr>
          <a:lstStyle/>
          <a:p>
            <a:pPr marL="0" indent="0" algn="l">
              <a:lnSpc>
                <a:spcPct val="136098"/>
              </a:lnSpc>
              <a:buNone/>
            </a:pPr>
            <a:r>
              <a:rPr lang="en-US" sz="2700" strike="sngStrike" dirty="0">
                <a:solidFill>
                  <a:srgbClr val="8C98A8"/>
                </a:solidFill>
                <a:latin typeface="Georgia" pitchFamily="34" charset="0"/>
                <a:ea typeface="Georgia" pitchFamily="34" charset="-122"/>
                <a:cs typeface="Georgia" pitchFamily="34" charset="-120"/>
              </a:rPr>
              <a:t>Gender</a:t>
            </a:r>
            <a:endParaRPr lang="en-US" sz="2700" dirty="0"/>
          </a:p>
        </p:txBody>
      </p:sp>
      <p:sp>
        <p:nvSpPr>
          <p:cNvPr id="5" name="Text 3"/>
          <p:cNvSpPr/>
          <p:nvPr/>
        </p:nvSpPr>
        <p:spPr>
          <a:xfrm>
            <a:off x="1238250" y="4706541"/>
            <a:ext cx="8015288" cy="569565"/>
          </a:xfrm>
          <a:prstGeom prst="rect">
            <a:avLst/>
          </a:prstGeom>
          <a:noFill/>
          <a:ln/>
        </p:spPr>
        <p:txBody>
          <a:bodyPr wrap="square" lIns="25400" tIns="25400" rIns="25400" bIns="25400" rtlCol="0" anchor="t">
            <a:normAutofit/>
          </a:bodyPr>
          <a:lstStyle/>
          <a:p>
            <a:pPr marL="0" indent="0" algn="l">
              <a:lnSpc>
                <a:spcPct val="136098"/>
              </a:lnSpc>
              <a:buNone/>
            </a:pPr>
            <a:r>
              <a:rPr lang="en-US" sz="2700" strike="sngStrike" dirty="0">
                <a:solidFill>
                  <a:srgbClr val="8C98A8"/>
                </a:solidFill>
                <a:latin typeface="Georgia" pitchFamily="34" charset="0"/>
                <a:ea typeface="Georgia" pitchFamily="34" charset="-122"/>
                <a:cs typeface="Georgia" pitchFamily="34" charset="-120"/>
              </a:rPr>
              <a:t>Age</a:t>
            </a:r>
            <a:endParaRPr lang="en-US" sz="2700" dirty="0"/>
          </a:p>
        </p:txBody>
      </p:sp>
      <p:sp>
        <p:nvSpPr>
          <p:cNvPr id="6" name="Text 4"/>
          <p:cNvSpPr/>
          <p:nvPr/>
        </p:nvSpPr>
        <p:spPr>
          <a:xfrm>
            <a:off x="1238250" y="5466606"/>
            <a:ext cx="8015288" cy="569565"/>
          </a:xfrm>
          <a:prstGeom prst="rect">
            <a:avLst/>
          </a:prstGeom>
          <a:noFill/>
          <a:ln/>
        </p:spPr>
        <p:txBody>
          <a:bodyPr wrap="square" lIns="25400" tIns="25400" rIns="25400" bIns="25400" rtlCol="0" anchor="t">
            <a:normAutofit/>
          </a:bodyPr>
          <a:lstStyle/>
          <a:p>
            <a:pPr marL="0" indent="0" algn="l">
              <a:lnSpc>
                <a:spcPct val="136098"/>
              </a:lnSpc>
              <a:buNone/>
            </a:pPr>
            <a:r>
              <a:rPr lang="en-US" sz="2700" strike="sngStrike" dirty="0">
                <a:solidFill>
                  <a:srgbClr val="8C98A8"/>
                </a:solidFill>
                <a:latin typeface="Georgia" pitchFamily="34" charset="0"/>
                <a:ea typeface="Georgia" pitchFamily="34" charset="-122"/>
                <a:cs typeface="Georgia" pitchFamily="34" charset="-120"/>
              </a:rPr>
              <a:t>Marital Status</a:t>
            </a:r>
            <a:endParaRPr lang="en-US" sz="2700" dirty="0"/>
          </a:p>
        </p:txBody>
      </p:sp>
      <p:sp>
        <p:nvSpPr>
          <p:cNvPr id="7" name="Text 5"/>
          <p:cNvSpPr/>
          <p:nvPr/>
        </p:nvSpPr>
        <p:spPr>
          <a:xfrm>
            <a:off x="1238250" y="6226671"/>
            <a:ext cx="8015288" cy="569565"/>
          </a:xfrm>
          <a:prstGeom prst="rect">
            <a:avLst/>
          </a:prstGeom>
          <a:noFill/>
          <a:ln/>
        </p:spPr>
        <p:txBody>
          <a:bodyPr wrap="square" lIns="25400" tIns="25400" rIns="25400" bIns="25400" rtlCol="0" anchor="t">
            <a:normAutofit/>
          </a:bodyPr>
          <a:lstStyle/>
          <a:p>
            <a:pPr marL="0" indent="0" algn="l">
              <a:lnSpc>
                <a:spcPct val="136098"/>
              </a:lnSpc>
              <a:buNone/>
            </a:pPr>
            <a:r>
              <a:rPr lang="en-US" sz="2700" strike="sngStrike" dirty="0">
                <a:solidFill>
                  <a:srgbClr val="8C98A8"/>
                </a:solidFill>
                <a:latin typeface="Georgia" pitchFamily="34" charset="0"/>
                <a:ea typeface="Georgia" pitchFamily="34" charset="-122"/>
                <a:cs typeface="Georgia" pitchFamily="34" charset="-120"/>
              </a:rPr>
              <a:t>Distance From Home</a:t>
            </a:r>
            <a:endParaRPr lang="en-US" sz="2700" dirty="0"/>
          </a:p>
        </p:txBody>
      </p:sp>
      <p:sp>
        <p:nvSpPr>
          <p:cNvPr id="8" name="Text 6"/>
          <p:cNvSpPr/>
          <p:nvPr/>
        </p:nvSpPr>
        <p:spPr>
          <a:xfrm>
            <a:off x="9763125" y="3249365"/>
            <a:ext cx="8015288" cy="1576388"/>
          </a:xfrm>
          <a:prstGeom prst="rect">
            <a:avLst/>
          </a:prstGeom>
          <a:noFill/>
          <a:ln/>
        </p:spPr>
        <p:txBody>
          <a:bodyPr wrap="square" lIns="25400" tIns="25400" rIns="25400" bIns="25400" rtlCol="0" anchor="t">
            <a:normAutofit lnSpcReduction="10000"/>
          </a:bodyPr>
          <a:lstStyle/>
          <a:p>
            <a:pPr marL="0" indent="0" algn="l">
              <a:lnSpc>
                <a:spcPct val="83679"/>
              </a:lnSpc>
              <a:buNone/>
            </a:pPr>
            <a:r>
              <a:rPr lang="en-US" sz="12750" kern="0" spc="-382" dirty="0">
                <a:solidFill>
                  <a:srgbClr val="E9A13B"/>
                </a:solidFill>
                <a:latin typeface="Georgia" pitchFamily="34" charset="0"/>
                <a:ea typeface="Georgia" pitchFamily="34" charset="-122"/>
                <a:cs typeface="Georgia" pitchFamily="34" charset="-120"/>
              </a:rPr>
              <a:t>0.908</a:t>
            </a:r>
            <a:endParaRPr lang="en-US" sz="12750" dirty="0"/>
          </a:p>
        </p:txBody>
      </p:sp>
      <p:sp>
        <p:nvSpPr>
          <p:cNvPr id="9" name="Text 7"/>
          <p:cNvSpPr/>
          <p:nvPr/>
        </p:nvSpPr>
        <p:spPr>
          <a:xfrm>
            <a:off x="9763124" y="5054352"/>
            <a:ext cx="6258193" cy="923925"/>
          </a:xfrm>
          <a:prstGeom prst="rect">
            <a:avLst/>
          </a:prstGeom>
          <a:noFill/>
          <a:ln/>
        </p:spPr>
        <p:txBody>
          <a:bodyPr wrap="square" lIns="25400" tIns="25400" rIns="25400" bIns="25400" rtlCol="0" anchor="t">
            <a:normAutofit/>
          </a:bodyPr>
          <a:lstStyle/>
          <a:p>
            <a:pPr marL="0" indent="0" algn="l">
              <a:lnSpc>
                <a:spcPct val="132857"/>
              </a:lnSpc>
              <a:buNone/>
            </a:pPr>
            <a:r>
              <a:rPr lang="en-US" sz="2250" dirty="0">
                <a:solidFill>
                  <a:srgbClr val="B9B0A2"/>
                </a:solidFill>
                <a:latin typeface="Georgia" pitchFamily="34" charset="0"/>
                <a:ea typeface="Georgia" pitchFamily="34" charset="-122"/>
                <a:cs typeface="Georgia" pitchFamily="34" charset="-120"/>
              </a:rPr>
              <a:t>Gender impact ratio — passes four-fifths rule.</a:t>
            </a:r>
            <a:endParaRPr lang="en-US" sz="2250" dirty="0"/>
          </a:p>
        </p:txBody>
      </p:sp>
      <p:sp>
        <p:nvSpPr>
          <p:cNvPr id="10" name="Text 8"/>
          <p:cNvSpPr/>
          <p:nvPr/>
        </p:nvSpPr>
        <p:spPr>
          <a:xfrm>
            <a:off x="1238250" y="8241209"/>
            <a:ext cx="17392650" cy="510480"/>
          </a:xfrm>
          <a:prstGeom prst="rect">
            <a:avLst/>
          </a:prstGeom>
          <a:noFill/>
          <a:ln/>
        </p:spPr>
        <p:txBody>
          <a:bodyPr wrap="square" lIns="25400" tIns="25400" rIns="25400" bIns="25400" rtlCol="0" anchor="t">
            <a:normAutofit/>
          </a:bodyPr>
          <a:lstStyle/>
          <a:p>
            <a:pPr marL="0" indent="0" algn="l">
              <a:lnSpc>
                <a:spcPct val="137778"/>
              </a:lnSpc>
              <a:buNone/>
            </a:pPr>
            <a:r>
              <a:rPr lang="en-US" sz="2400" dirty="0">
                <a:solidFill>
                  <a:srgbClr val="F2EDE4"/>
                </a:solidFill>
                <a:latin typeface="Georgia" pitchFamily="34" charset="0"/>
                <a:ea typeface="Georgia" pitchFamily="34" charset="-122"/>
                <a:cs typeface="Georgia" pitchFamily="34" charset="-120"/>
              </a:rPr>
              <a:t>Cost of fairness: 0.011 AUC. Worth it.</a:t>
            </a:r>
            <a:endParaRPr lang="en-US" sz="2400" dirty="0"/>
          </a:p>
        </p:txBody>
      </p:sp>
      <p:sp>
        <p:nvSpPr>
          <p:cNvPr id="11" name="Text 9"/>
          <p:cNvSpPr/>
          <p:nvPr/>
        </p:nvSpPr>
        <p:spPr>
          <a:xfrm>
            <a:off x="1238250" y="92088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12" name="Text 10"/>
          <p:cNvSpPr/>
          <p:nvPr/>
        </p:nvSpPr>
        <p:spPr>
          <a:xfrm>
            <a:off x="16794956" y="9208889"/>
            <a:ext cx="668796"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762000"/>
            <a:ext cx="17392650" cy="624780"/>
          </a:xfrm>
          <a:prstGeom prst="rect">
            <a:avLst/>
          </a:prstGeom>
          <a:noFill/>
          <a:ln/>
        </p:spPr>
        <p:txBody>
          <a:bodyPr wrap="square" lIns="25400" tIns="25400" rIns="25400" bIns="25400" rtlCol="0" anchor="t">
            <a:normAutofit lnSpcReduction="10000"/>
          </a:bodyPr>
          <a:lstStyle/>
          <a:p>
            <a:pPr marL="0" indent="0" algn="l">
              <a:lnSpc>
                <a:spcPct val="97778"/>
              </a:lnSpc>
              <a:buNone/>
            </a:pPr>
            <a:r>
              <a:rPr lang="en-US" sz="4200" kern="0" spc="-63" dirty="0">
                <a:solidFill>
                  <a:srgbClr val="F2EDE4"/>
                </a:solidFill>
                <a:latin typeface="Georgia" pitchFamily="34" charset="0"/>
                <a:ea typeface="Georgia" pitchFamily="34" charset="-122"/>
                <a:cs typeface="Georgia" pitchFamily="34" charset="-120"/>
              </a:rPr>
              <a:t>The Economics</a:t>
            </a:r>
            <a:endParaRPr lang="en-US" sz="4200" dirty="0"/>
          </a:p>
        </p:txBody>
      </p:sp>
      <p:sp>
        <p:nvSpPr>
          <p:cNvPr id="3" name="Shape 1"/>
          <p:cNvSpPr/>
          <p:nvPr/>
        </p:nvSpPr>
        <p:spPr>
          <a:xfrm>
            <a:off x="1238250" y="2232719"/>
            <a:ext cx="4953000" cy="2381250"/>
          </a:xfrm>
          <a:prstGeom prst="roundRect">
            <a:avLst>
              <a:gd name="adj" fmla="val 800"/>
            </a:avLst>
          </a:prstGeom>
          <a:solidFill>
            <a:srgbClr val="1B2531"/>
          </a:solidFill>
          <a:ln/>
        </p:spPr>
        <p:txBody>
          <a:bodyPr/>
          <a:lstStyle/>
          <a:p>
            <a:endParaRPr lang="en-ZA"/>
          </a:p>
        </p:txBody>
      </p:sp>
      <p:sp>
        <p:nvSpPr>
          <p:cNvPr id="4" name="Text 2"/>
          <p:cNvSpPr/>
          <p:nvPr/>
        </p:nvSpPr>
        <p:spPr>
          <a:xfrm>
            <a:off x="1562100" y="2898055"/>
            <a:ext cx="4735830" cy="666750"/>
          </a:xfrm>
          <a:prstGeom prst="rect">
            <a:avLst/>
          </a:prstGeom>
          <a:noFill/>
          <a:ln/>
        </p:spPr>
        <p:txBody>
          <a:bodyPr wrap="square" lIns="25400" tIns="25400" rIns="25400" bIns="25400" rtlCol="0" anchor="t">
            <a:normAutofit lnSpcReduction="10000"/>
          </a:bodyPr>
          <a:lstStyle/>
          <a:p>
            <a:pPr marL="0" indent="0" algn="l">
              <a:lnSpc>
                <a:spcPct val="88000"/>
              </a:lnSpc>
              <a:buNone/>
            </a:pPr>
            <a:r>
              <a:rPr lang="en-US" sz="4950" dirty="0">
                <a:solidFill>
                  <a:srgbClr val="F2EDE4"/>
                </a:solidFill>
                <a:latin typeface="Georgia" pitchFamily="34" charset="0"/>
                <a:ea typeface="Georgia" pitchFamily="34" charset="-122"/>
                <a:cs typeface="Georgia" pitchFamily="34" charset="-120"/>
              </a:rPr>
              <a:t>$86,000</a:t>
            </a:r>
            <a:endParaRPr lang="en-US" sz="4950" dirty="0"/>
          </a:p>
        </p:txBody>
      </p:sp>
      <p:sp>
        <p:nvSpPr>
          <p:cNvPr id="5" name="Text 3"/>
          <p:cNvSpPr/>
          <p:nvPr/>
        </p:nvSpPr>
        <p:spPr>
          <a:xfrm>
            <a:off x="1562100" y="3641005"/>
            <a:ext cx="4735830"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Cost of missing a leaver</a:t>
            </a:r>
            <a:endParaRPr lang="en-US" sz="1950" dirty="0"/>
          </a:p>
        </p:txBody>
      </p:sp>
      <p:sp>
        <p:nvSpPr>
          <p:cNvPr id="6" name="Text 4"/>
          <p:cNvSpPr/>
          <p:nvPr/>
        </p:nvSpPr>
        <p:spPr>
          <a:xfrm>
            <a:off x="7970858" y="2964916"/>
            <a:ext cx="1677873" cy="952500"/>
          </a:xfrm>
          <a:prstGeom prst="rect">
            <a:avLst/>
          </a:prstGeom>
          <a:noFill/>
          <a:ln/>
        </p:spPr>
        <p:txBody>
          <a:bodyPr wrap="square" lIns="25400" tIns="25400" rIns="25400" bIns="25400" rtlCol="0" anchor="t">
            <a:normAutofit lnSpcReduction="10000"/>
          </a:bodyPr>
          <a:lstStyle/>
          <a:p>
            <a:pPr marL="0" indent="0" algn="l">
              <a:lnSpc>
                <a:spcPct val="88073"/>
              </a:lnSpc>
              <a:buNone/>
            </a:pPr>
            <a:r>
              <a:rPr lang="en-US" sz="7200" dirty="0">
                <a:solidFill>
                  <a:srgbClr val="E9A13B"/>
                </a:solidFill>
                <a:latin typeface="Georgia" pitchFamily="34" charset="0"/>
                <a:ea typeface="Georgia" pitchFamily="34" charset="-122"/>
                <a:cs typeface="Georgia" pitchFamily="34" charset="-120"/>
              </a:rPr>
              <a:t>15:1</a:t>
            </a:r>
            <a:endParaRPr lang="en-US" sz="7200" dirty="0"/>
          </a:p>
        </p:txBody>
      </p:sp>
      <p:sp>
        <p:nvSpPr>
          <p:cNvPr id="7" name="Shape 5"/>
          <p:cNvSpPr/>
          <p:nvPr/>
        </p:nvSpPr>
        <p:spPr>
          <a:xfrm>
            <a:off x="11428339" y="2964916"/>
            <a:ext cx="2857500" cy="914400"/>
          </a:xfrm>
          <a:prstGeom prst="roundRect">
            <a:avLst>
              <a:gd name="adj" fmla="val 2083"/>
            </a:avLst>
          </a:prstGeom>
          <a:solidFill>
            <a:srgbClr val="1B2531"/>
          </a:solidFill>
          <a:ln/>
        </p:spPr>
        <p:txBody>
          <a:bodyPr/>
          <a:lstStyle/>
          <a:p>
            <a:endParaRPr lang="en-ZA"/>
          </a:p>
        </p:txBody>
      </p:sp>
      <p:sp>
        <p:nvSpPr>
          <p:cNvPr id="8" name="Text 6"/>
          <p:cNvSpPr/>
          <p:nvPr/>
        </p:nvSpPr>
        <p:spPr>
          <a:xfrm>
            <a:off x="11656939" y="3055923"/>
            <a:ext cx="2640330" cy="381000"/>
          </a:xfrm>
          <a:prstGeom prst="rect">
            <a:avLst/>
          </a:prstGeom>
          <a:noFill/>
          <a:ln/>
        </p:spPr>
        <p:txBody>
          <a:bodyPr wrap="square" lIns="25400" tIns="25400" rIns="25400" bIns="25400" rtlCol="0" anchor="t">
            <a:normAutofit lnSpcReduction="10000"/>
          </a:bodyPr>
          <a:lstStyle/>
          <a:p>
            <a:pPr marL="0" indent="0" algn="l">
              <a:lnSpc>
                <a:spcPct val="87805"/>
              </a:lnSpc>
              <a:buNone/>
            </a:pPr>
            <a:r>
              <a:rPr lang="en-US" sz="2700" dirty="0">
                <a:solidFill>
                  <a:srgbClr val="F2EDE4"/>
                </a:solidFill>
                <a:latin typeface="Georgia" pitchFamily="34" charset="0"/>
                <a:ea typeface="Georgia" pitchFamily="34" charset="-122"/>
                <a:cs typeface="Georgia" pitchFamily="34" charset="-120"/>
              </a:rPr>
              <a:t>$5,700</a:t>
            </a:r>
            <a:endParaRPr lang="en-US" sz="2700" dirty="0"/>
          </a:p>
        </p:txBody>
      </p:sp>
      <p:sp>
        <p:nvSpPr>
          <p:cNvPr id="9" name="Text 7"/>
          <p:cNvSpPr/>
          <p:nvPr/>
        </p:nvSpPr>
        <p:spPr>
          <a:xfrm>
            <a:off x="11656939" y="3475023"/>
            <a:ext cx="264033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dirty="0">
                <a:solidFill>
                  <a:srgbClr val="8C98A8"/>
                </a:solidFill>
                <a:latin typeface="Georgia" pitchFamily="34" charset="0"/>
                <a:ea typeface="Georgia" pitchFamily="34" charset="-122"/>
                <a:cs typeface="Georgia" pitchFamily="34" charset="-120"/>
              </a:rPr>
              <a:t>Cost of an intervention</a:t>
            </a:r>
            <a:endParaRPr lang="en-US" sz="1800" dirty="0"/>
          </a:p>
        </p:txBody>
      </p:sp>
      <p:sp>
        <p:nvSpPr>
          <p:cNvPr id="10" name="Shape 8"/>
          <p:cNvSpPr/>
          <p:nvPr/>
        </p:nvSpPr>
        <p:spPr>
          <a:xfrm>
            <a:off x="1238249" y="5468444"/>
            <a:ext cx="13335000" cy="495300"/>
          </a:xfrm>
          <a:prstGeom prst="roundRect">
            <a:avLst>
              <a:gd name="adj" fmla="val 3846"/>
            </a:avLst>
          </a:prstGeom>
          <a:solidFill>
            <a:srgbClr val="18212E"/>
          </a:solidFill>
          <a:ln/>
        </p:spPr>
        <p:txBody>
          <a:bodyPr/>
          <a:lstStyle/>
          <a:p>
            <a:endParaRPr lang="en-ZA"/>
          </a:p>
        </p:txBody>
      </p:sp>
      <p:sp>
        <p:nvSpPr>
          <p:cNvPr id="11" name="Shape 9"/>
          <p:cNvSpPr/>
          <p:nvPr/>
        </p:nvSpPr>
        <p:spPr>
          <a:xfrm>
            <a:off x="6872287" y="5468444"/>
            <a:ext cx="4367213" cy="495300"/>
          </a:xfrm>
          <a:prstGeom prst="rect">
            <a:avLst/>
          </a:prstGeom>
          <a:solidFill>
            <a:srgbClr val="2F4152"/>
          </a:solidFill>
          <a:ln/>
        </p:spPr>
        <p:txBody>
          <a:bodyPr/>
          <a:lstStyle/>
          <a:p>
            <a:endParaRPr lang="en-ZA"/>
          </a:p>
        </p:txBody>
      </p:sp>
      <p:sp>
        <p:nvSpPr>
          <p:cNvPr id="12" name="Shape 10"/>
          <p:cNvSpPr/>
          <p:nvPr/>
        </p:nvSpPr>
        <p:spPr>
          <a:xfrm>
            <a:off x="6872287" y="5335094"/>
            <a:ext cx="28575" cy="762000"/>
          </a:xfrm>
          <a:prstGeom prst="rect">
            <a:avLst/>
          </a:prstGeom>
          <a:solidFill>
            <a:srgbClr val="8C98A8"/>
          </a:solidFill>
          <a:ln/>
        </p:spPr>
        <p:txBody>
          <a:bodyPr/>
          <a:lstStyle/>
          <a:p>
            <a:endParaRPr lang="en-ZA"/>
          </a:p>
        </p:txBody>
      </p:sp>
      <p:sp>
        <p:nvSpPr>
          <p:cNvPr id="13" name="Shape 11"/>
          <p:cNvSpPr/>
          <p:nvPr/>
        </p:nvSpPr>
        <p:spPr>
          <a:xfrm>
            <a:off x="11239499" y="5335094"/>
            <a:ext cx="28575" cy="762000"/>
          </a:xfrm>
          <a:prstGeom prst="rect">
            <a:avLst/>
          </a:prstGeom>
          <a:solidFill>
            <a:srgbClr val="F2EDE4"/>
          </a:solidFill>
          <a:ln/>
        </p:spPr>
        <p:txBody>
          <a:bodyPr/>
          <a:lstStyle/>
          <a:p>
            <a:endParaRPr lang="en-ZA"/>
          </a:p>
        </p:txBody>
      </p:sp>
      <p:sp>
        <p:nvSpPr>
          <p:cNvPr id="14" name="Text 12"/>
          <p:cNvSpPr/>
          <p:nvPr/>
        </p:nvSpPr>
        <p:spPr>
          <a:xfrm>
            <a:off x="5981625" y="6116144"/>
            <a:ext cx="1959456" cy="392311"/>
          </a:xfrm>
          <a:prstGeom prst="rect">
            <a:avLst/>
          </a:prstGeom>
          <a:noFill/>
          <a:ln/>
        </p:spPr>
        <p:txBody>
          <a:bodyPr wrap="none" lIns="25400" tIns="25400" rIns="25400" bIns="25400" rtlCol="0" anchor="t">
            <a:normAutofit lnSpcReduction="10000"/>
          </a:bodyPr>
          <a:lstStyle/>
          <a:p>
            <a:pPr marL="0" indent="0" algn="l">
              <a:lnSpc>
                <a:spcPct val="137778"/>
              </a:lnSpc>
              <a:buNone/>
            </a:pPr>
            <a:r>
              <a:rPr lang="en-US" sz="1800" dirty="0">
                <a:solidFill>
                  <a:srgbClr val="8C98A8"/>
                </a:solidFill>
                <a:latin typeface="Georgia" pitchFamily="34" charset="0"/>
                <a:ea typeface="Georgia" pitchFamily="34" charset="-122"/>
                <a:cs typeface="Georgia" pitchFamily="34" charset="-120"/>
              </a:rPr>
              <a:t>16.9% break-even</a:t>
            </a:r>
            <a:endParaRPr lang="en-US" sz="1800" dirty="0"/>
          </a:p>
        </p:txBody>
      </p:sp>
      <p:sp>
        <p:nvSpPr>
          <p:cNvPr id="15" name="Text 13"/>
          <p:cNvSpPr/>
          <p:nvPr/>
        </p:nvSpPr>
        <p:spPr>
          <a:xfrm>
            <a:off x="10417893" y="6116144"/>
            <a:ext cx="1807532" cy="392311"/>
          </a:xfrm>
          <a:prstGeom prst="rect">
            <a:avLst/>
          </a:prstGeom>
          <a:noFill/>
          <a:ln/>
        </p:spPr>
        <p:txBody>
          <a:bodyPr wrap="none" lIns="25400" tIns="25400" rIns="25400" bIns="25400" rtlCol="0" anchor="t">
            <a:normAutofit lnSpcReduction="10000"/>
          </a:bodyPr>
          <a:lstStyle/>
          <a:p>
            <a:pPr marL="0" indent="0" algn="l">
              <a:lnSpc>
                <a:spcPct val="137778"/>
              </a:lnSpc>
              <a:buNone/>
            </a:pPr>
            <a:r>
              <a:rPr lang="en-US" sz="1800" dirty="0">
                <a:solidFill>
                  <a:srgbClr val="F2EDE4"/>
                </a:solidFill>
                <a:latin typeface="Georgia" pitchFamily="34" charset="0"/>
                <a:ea typeface="Georgia" pitchFamily="34" charset="-122"/>
                <a:cs typeface="Georgia" pitchFamily="34" charset="-120"/>
              </a:rPr>
              <a:t>30% benchmark</a:t>
            </a:r>
            <a:endParaRPr lang="en-US" sz="1800" dirty="0"/>
          </a:p>
        </p:txBody>
      </p:sp>
      <p:sp>
        <p:nvSpPr>
          <p:cNvPr id="16" name="Text 14"/>
          <p:cNvSpPr/>
          <p:nvPr/>
        </p:nvSpPr>
        <p:spPr>
          <a:xfrm>
            <a:off x="1238249" y="7225754"/>
            <a:ext cx="2110257" cy="495300"/>
          </a:xfrm>
          <a:prstGeom prst="rect">
            <a:avLst/>
          </a:prstGeom>
          <a:noFill/>
          <a:ln/>
        </p:spPr>
        <p:txBody>
          <a:bodyPr wrap="square" lIns="25400" tIns="25400" rIns="25400" bIns="25400" rtlCol="0" anchor="t">
            <a:normAutofit fontScale="92500" lnSpcReduction="10000"/>
          </a:bodyPr>
          <a:lstStyle/>
          <a:p>
            <a:pPr marL="0" indent="0" algn="l">
              <a:lnSpc>
                <a:spcPct val="88136"/>
              </a:lnSpc>
              <a:buNone/>
            </a:pPr>
            <a:r>
              <a:rPr lang="en-US" sz="3900" dirty="0">
                <a:solidFill>
                  <a:srgbClr val="F2EDE4"/>
                </a:solidFill>
                <a:latin typeface="Georgia" pitchFamily="34" charset="0"/>
                <a:ea typeface="Georgia" pitchFamily="34" charset="-122"/>
                <a:cs typeface="Georgia" pitchFamily="34" charset="-120"/>
              </a:rPr>
              <a:t>$1.7M</a:t>
            </a:r>
            <a:endParaRPr lang="en-US" sz="3900" dirty="0"/>
          </a:p>
        </p:txBody>
      </p:sp>
      <p:sp>
        <p:nvSpPr>
          <p:cNvPr id="17" name="Text 15"/>
          <p:cNvSpPr/>
          <p:nvPr/>
        </p:nvSpPr>
        <p:spPr>
          <a:xfrm>
            <a:off x="1238250" y="7816304"/>
            <a:ext cx="1375172"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44" dirty="0">
                <a:solidFill>
                  <a:srgbClr val="8C98A8"/>
                </a:solidFill>
                <a:latin typeface="Georgia" pitchFamily="34" charset="0"/>
                <a:ea typeface="Georgia" pitchFamily="34" charset="-122"/>
                <a:cs typeface="Georgia" pitchFamily="34" charset="-120"/>
              </a:rPr>
              <a:t>NET</a:t>
            </a:r>
            <a:endParaRPr lang="en-US" sz="1800" dirty="0"/>
          </a:p>
        </p:txBody>
      </p:sp>
      <p:sp>
        <p:nvSpPr>
          <p:cNvPr id="18" name="Text 16"/>
          <p:cNvSpPr/>
          <p:nvPr/>
        </p:nvSpPr>
        <p:spPr>
          <a:xfrm>
            <a:off x="3729843" y="7239339"/>
            <a:ext cx="1499483" cy="495300"/>
          </a:xfrm>
          <a:prstGeom prst="rect">
            <a:avLst/>
          </a:prstGeom>
          <a:noFill/>
          <a:ln/>
        </p:spPr>
        <p:txBody>
          <a:bodyPr wrap="square" lIns="25400" tIns="25400" rIns="25400" bIns="25400" rtlCol="0" anchor="t">
            <a:normAutofit fontScale="92500" lnSpcReduction="10000"/>
          </a:bodyPr>
          <a:lstStyle/>
          <a:p>
            <a:pPr marL="0" indent="0" algn="l">
              <a:lnSpc>
                <a:spcPct val="88136"/>
              </a:lnSpc>
              <a:buNone/>
            </a:pPr>
            <a:r>
              <a:rPr lang="en-US" sz="3900" dirty="0">
                <a:solidFill>
                  <a:srgbClr val="F2EDE4"/>
                </a:solidFill>
                <a:latin typeface="Georgia" pitchFamily="34" charset="0"/>
                <a:ea typeface="Georgia" pitchFamily="34" charset="-122"/>
                <a:cs typeface="Georgia" pitchFamily="34" charset="-120"/>
              </a:rPr>
              <a:t>77%</a:t>
            </a:r>
            <a:endParaRPr lang="en-US" sz="3900" dirty="0"/>
          </a:p>
        </p:txBody>
      </p:sp>
      <p:sp>
        <p:nvSpPr>
          <p:cNvPr id="19" name="Text 17"/>
          <p:cNvSpPr/>
          <p:nvPr/>
        </p:nvSpPr>
        <p:spPr>
          <a:xfrm>
            <a:off x="3729843" y="7829889"/>
            <a:ext cx="949523"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44" dirty="0">
                <a:solidFill>
                  <a:srgbClr val="8C98A8"/>
                </a:solidFill>
                <a:latin typeface="Georgia" pitchFamily="34" charset="0"/>
                <a:ea typeface="Georgia" pitchFamily="34" charset="-122"/>
                <a:cs typeface="Georgia" pitchFamily="34" charset="-120"/>
              </a:rPr>
              <a:t>ROI</a:t>
            </a:r>
            <a:endParaRPr lang="en-US" sz="1800" dirty="0"/>
          </a:p>
        </p:txBody>
      </p:sp>
      <p:sp>
        <p:nvSpPr>
          <p:cNvPr id="20" name="Text 18"/>
          <p:cNvSpPr/>
          <p:nvPr/>
        </p:nvSpPr>
        <p:spPr>
          <a:xfrm>
            <a:off x="5795787" y="7225754"/>
            <a:ext cx="3802680" cy="554385"/>
          </a:xfrm>
          <a:prstGeom prst="rect">
            <a:avLst/>
          </a:prstGeom>
          <a:noFill/>
          <a:ln/>
        </p:spPr>
        <p:txBody>
          <a:bodyPr wrap="square" lIns="25400" tIns="25400" rIns="25400" bIns="25400" rtlCol="0" anchor="t">
            <a:normAutofit lnSpcReduction="10000"/>
          </a:bodyPr>
          <a:lstStyle/>
          <a:p>
            <a:pPr marL="0" indent="0" algn="l">
              <a:lnSpc>
                <a:spcPct val="88136"/>
              </a:lnSpc>
              <a:buNone/>
            </a:pPr>
            <a:r>
              <a:rPr lang="en-US" sz="3900" dirty="0">
                <a:solidFill>
                  <a:srgbClr val="F2EDE4"/>
                </a:solidFill>
                <a:latin typeface="Georgia" pitchFamily="34" charset="0"/>
                <a:ea typeface="Georgia" pitchFamily="34" charset="-122"/>
                <a:cs typeface="Georgia" pitchFamily="34" charset="-120"/>
              </a:rPr>
              <a:t>6.8 months</a:t>
            </a:r>
            <a:endParaRPr lang="en-US" sz="3900" dirty="0"/>
          </a:p>
        </p:txBody>
      </p:sp>
      <p:sp>
        <p:nvSpPr>
          <p:cNvPr id="21" name="Text 19"/>
          <p:cNvSpPr/>
          <p:nvPr/>
        </p:nvSpPr>
        <p:spPr>
          <a:xfrm>
            <a:off x="5795787" y="7816306"/>
            <a:ext cx="4073136" cy="333524"/>
          </a:xfrm>
          <a:prstGeom prst="rect">
            <a:avLst/>
          </a:prstGeom>
          <a:noFill/>
          <a:ln/>
        </p:spPr>
        <p:txBody>
          <a:bodyPr wrap="square" lIns="25400" tIns="25400" rIns="25400" bIns="25400" rtlCol="0" anchor="t">
            <a:normAutofit fontScale="85000" lnSpcReduction="10000"/>
          </a:bodyPr>
          <a:lstStyle/>
          <a:p>
            <a:pPr marL="0" indent="0" algn="l">
              <a:lnSpc>
                <a:spcPct val="137778"/>
              </a:lnSpc>
              <a:buNone/>
            </a:pPr>
            <a:r>
              <a:rPr lang="en-US" sz="1800" kern="0" spc="144" dirty="0">
                <a:solidFill>
                  <a:srgbClr val="8C98A8"/>
                </a:solidFill>
                <a:latin typeface="Georgia" pitchFamily="34" charset="0"/>
                <a:ea typeface="Georgia" pitchFamily="34" charset="-122"/>
                <a:cs typeface="Georgia" pitchFamily="34" charset="-120"/>
              </a:rPr>
              <a:t>PAYBACK</a:t>
            </a:r>
            <a:endParaRPr lang="en-US" sz="1800" dirty="0"/>
          </a:p>
        </p:txBody>
      </p:sp>
      <p:sp>
        <p:nvSpPr>
          <p:cNvPr id="22" name="Text 20"/>
          <p:cNvSpPr/>
          <p:nvPr/>
        </p:nvSpPr>
        <p:spPr>
          <a:xfrm>
            <a:off x="1238250" y="92469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23" name="Text 21"/>
          <p:cNvSpPr/>
          <p:nvPr/>
        </p:nvSpPr>
        <p:spPr>
          <a:xfrm>
            <a:off x="16794955" y="9246989"/>
            <a:ext cx="1299861"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571500"/>
            <a:ext cx="17392650" cy="624780"/>
          </a:xfrm>
          <a:prstGeom prst="rect">
            <a:avLst/>
          </a:prstGeom>
          <a:noFill/>
          <a:ln/>
        </p:spPr>
        <p:txBody>
          <a:bodyPr wrap="square" lIns="25400" tIns="25400" rIns="25400" bIns="25400" rtlCol="0" anchor="t">
            <a:normAutofit lnSpcReduction="10000"/>
          </a:bodyPr>
          <a:lstStyle/>
          <a:p>
            <a:pPr marL="0" indent="0" algn="l">
              <a:lnSpc>
                <a:spcPct val="97778"/>
              </a:lnSpc>
              <a:buNone/>
            </a:pPr>
            <a:r>
              <a:rPr lang="en-US" sz="4200" kern="0" spc="-63" dirty="0">
                <a:solidFill>
                  <a:srgbClr val="F2EDE4"/>
                </a:solidFill>
                <a:latin typeface="Georgia" pitchFamily="34" charset="0"/>
                <a:ea typeface="Georgia" pitchFamily="34" charset="-122"/>
                <a:cs typeface="Georgia" pitchFamily="34" charset="-120"/>
              </a:rPr>
              <a:t>We don't know the observation window.</a:t>
            </a:r>
            <a:endParaRPr lang="en-US" sz="4200" dirty="0"/>
          </a:p>
        </p:txBody>
      </p:sp>
      <p:sp>
        <p:nvSpPr>
          <p:cNvPr id="3" name="Shape 1"/>
          <p:cNvSpPr/>
          <p:nvPr/>
        </p:nvSpPr>
        <p:spPr>
          <a:xfrm>
            <a:off x="1238250" y="1405830"/>
            <a:ext cx="14287500" cy="5534025"/>
          </a:xfrm>
          <a:prstGeom prst="roundRect">
            <a:avLst>
              <a:gd name="adj" fmla="val 344"/>
            </a:avLst>
          </a:prstGeom>
          <a:solidFill>
            <a:srgbClr val="0F1723"/>
          </a:solidFill>
          <a:ln/>
        </p:spPr>
        <p:txBody>
          <a:bodyPr/>
          <a:lstStyle/>
          <a:p>
            <a:endParaRPr lang="en-ZA"/>
          </a:p>
        </p:txBody>
      </p:sp>
      <p:pic>
        <p:nvPicPr>
          <p:cNvPr id="4" name="Image 0" descr="preencoded.png"/>
          <p:cNvPicPr>
            <a:picLocks noChangeAspect="1"/>
          </p:cNvPicPr>
          <p:nvPr/>
        </p:nvPicPr>
        <p:blipFill>
          <a:blip r:embed="rId3"/>
          <a:stretch>
            <a:fillRect/>
          </a:stretch>
        </p:blipFill>
        <p:spPr>
          <a:xfrm>
            <a:off x="1238250" y="1405830"/>
            <a:ext cx="14287500" cy="5534025"/>
          </a:xfrm>
          <a:prstGeom prst="rect">
            <a:avLst/>
          </a:prstGeom>
        </p:spPr>
      </p:pic>
      <p:sp>
        <p:nvSpPr>
          <p:cNvPr id="5" name="Shape 2"/>
          <p:cNvSpPr/>
          <p:nvPr/>
        </p:nvSpPr>
        <p:spPr>
          <a:xfrm>
            <a:off x="1238250" y="7187505"/>
            <a:ext cx="2766417" cy="992386"/>
          </a:xfrm>
          <a:prstGeom prst="roundRect">
            <a:avLst>
              <a:gd name="adj" fmla="val 1920"/>
            </a:avLst>
          </a:prstGeom>
          <a:solidFill>
            <a:srgbClr val="18212E"/>
          </a:solidFill>
          <a:ln/>
        </p:spPr>
        <p:txBody>
          <a:bodyPr/>
          <a:lstStyle/>
          <a:p>
            <a:endParaRPr lang="en-ZA"/>
          </a:p>
        </p:txBody>
      </p:sp>
      <p:sp>
        <p:nvSpPr>
          <p:cNvPr id="6" name="Text 3"/>
          <p:cNvSpPr/>
          <p:nvPr/>
        </p:nvSpPr>
        <p:spPr>
          <a:xfrm>
            <a:off x="1429793" y="7530405"/>
            <a:ext cx="770186" cy="451396"/>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B9B0A2"/>
                </a:solidFill>
                <a:latin typeface="Georgia" pitchFamily="34" charset="0"/>
                <a:ea typeface="Georgia" pitchFamily="34" charset="-122"/>
                <a:cs typeface="Georgia" pitchFamily="34" charset="-120"/>
              </a:rPr>
              <a:t>1 year</a:t>
            </a:r>
            <a:endParaRPr lang="en-US" sz="2100" dirty="0"/>
          </a:p>
        </p:txBody>
      </p:sp>
      <p:sp>
        <p:nvSpPr>
          <p:cNvPr id="7" name="Text 4"/>
          <p:cNvSpPr/>
          <p:nvPr/>
        </p:nvSpPr>
        <p:spPr>
          <a:xfrm>
            <a:off x="2333328" y="7358955"/>
            <a:ext cx="1748581" cy="687586"/>
          </a:xfrm>
          <a:prstGeom prst="rect">
            <a:avLst/>
          </a:prstGeom>
          <a:noFill/>
          <a:ln/>
        </p:spPr>
        <p:txBody>
          <a:bodyPr wrap="square" lIns="25400" tIns="25400" rIns="25400" bIns="25400" rtlCol="0" anchor="t">
            <a:normAutofit/>
          </a:bodyPr>
          <a:lstStyle/>
          <a:p>
            <a:pPr marL="0" indent="0" algn="l">
              <a:lnSpc>
                <a:spcPct val="136400"/>
              </a:lnSpc>
              <a:buNone/>
            </a:pPr>
            <a:r>
              <a:rPr lang="en-US" sz="3300" dirty="0">
                <a:solidFill>
                  <a:srgbClr val="5AA878"/>
                </a:solidFill>
                <a:latin typeface="Georgia" pitchFamily="34" charset="0"/>
                <a:ea typeface="Georgia" pitchFamily="34" charset="-122"/>
                <a:cs typeface="Georgia" pitchFamily="34" charset="-120"/>
              </a:rPr>
              <a:t>+$1.7M</a:t>
            </a:r>
            <a:endParaRPr lang="en-US" sz="3300" dirty="0"/>
          </a:p>
        </p:txBody>
      </p:sp>
      <p:sp>
        <p:nvSpPr>
          <p:cNvPr id="8" name="Shape 5"/>
          <p:cNvSpPr/>
          <p:nvPr/>
        </p:nvSpPr>
        <p:spPr>
          <a:xfrm>
            <a:off x="4309467" y="7187505"/>
            <a:ext cx="2877294" cy="992386"/>
          </a:xfrm>
          <a:prstGeom prst="roundRect">
            <a:avLst>
              <a:gd name="adj" fmla="val 1920"/>
            </a:avLst>
          </a:prstGeom>
          <a:solidFill>
            <a:srgbClr val="18212E"/>
          </a:solidFill>
          <a:ln/>
        </p:spPr>
        <p:txBody>
          <a:bodyPr/>
          <a:lstStyle/>
          <a:p>
            <a:endParaRPr lang="en-ZA"/>
          </a:p>
        </p:txBody>
      </p:sp>
      <p:sp>
        <p:nvSpPr>
          <p:cNvPr id="9" name="Text 6"/>
          <p:cNvSpPr/>
          <p:nvPr/>
        </p:nvSpPr>
        <p:spPr>
          <a:xfrm>
            <a:off x="4423768" y="7530405"/>
            <a:ext cx="948467" cy="451396"/>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B9B0A2"/>
                </a:solidFill>
                <a:latin typeface="Georgia" pitchFamily="34" charset="0"/>
                <a:ea typeface="Georgia" pitchFamily="34" charset="-122"/>
                <a:cs typeface="Georgia" pitchFamily="34" charset="-120"/>
              </a:rPr>
              <a:t>2 years</a:t>
            </a:r>
            <a:endParaRPr lang="en-US" sz="2100" dirty="0"/>
          </a:p>
        </p:txBody>
      </p:sp>
      <p:sp>
        <p:nvSpPr>
          <p:cNvPr id="10" name="Text 7"/>
          <p:cNvSpPr/>
          <p:nvPr/>
        </p:nvSpPr>
        <p:spPr>
          <a:xfrm>
            <a:off x="5438180" y="7358955"/>
            <a:ext cx="1748581" cy="687586"/>
          </a:xfrm>
          <a:prstGeom prst="rect">
            <a:avLst/>
          </a:prstGeom>
          <a:noFill/>
          <a:ln/>
        </p:spPr>
        <p:txBody>
          <a:bodyPr wrap="square" lIns="25400" tIns="25400" rIns="25400" bIns="25400" rtlCol="0" anchor="t">
            <a:normAutofit/>
          </a:bodyPr>
          <a:lstStyle/>
          <a:p>
            <a:pPr marL="0" indent="0" algn="l">
              <a:lnSpc>
                <a:spcPct val="136400"/>
              </a:lnSpc>
              <a:buNone/>
            </a:pPr>
            <a:r>
              <a:rPr lang="en-US" sz="3300" dirty="0">
                <a:solidFill>
                  <a:srgbClr val="C96A57"/>
                </a:solidFill>
                <a:latin typeface="Georgia" pitchFamily="34" charset="0"/>
                <a:ea typeface="Georgia" pitchFamily="34" charset="-122"/>
                <a:cs typeface="Georgia" pitchFamily="34" charset="-120"/>
              </a:rPr>
              <a:t>−$0.3M</a:t>
            </a:r>
            <a:endParaRPr lang="en-US" sz="3300" dirty="0"/>
          </a:p>
        </p:txBody>
      </p:sp>
      <p:sp>
        <p:nvSpPr>
          <p:cNvPr id="11" name="Shape 8"/>
          <p:cNvSpPr/>
          <p:nvPr/>
        </p:nvSpPr>
        <p:spPr>
          <a:xfrm>
            <a:off x="7491561" y="7187505"/>
            <a:ext cx="2877294" cy="992386"/>
          </a:xfrm>
          <a:prstGeom prst="roundRect">
            <a:avLst>
              <a:gd name="adj" fmla="val 1920"/>
            </a:avLst>
          </a:prstGeom>
          <a:solidFill>
            <a:srgbClr val="18212E"/>
          </a:solidFill>
          <a:ln/>
        </p:spPr>
        <p:txBody>
          <a:bodyPr/>
          <a:lstStyle/>
          <a:p>
            <a:endParaRPr lang="en-ZA"/>
          </a:p>
        </p:txBody>
      </p:sp>
      <p:sp>
        <p:nvSpPr>
          <p:cNvPr id="12" name="Text 9"/>
          <p:cNvSpPr/>
          <p:nvPr/>
        </p:nvSpPr>
        <p:spPr>
          <a:xfrm>
            <a:off x="7680989" y="7535523"/>
            <a:ext cx="1014412" cy="451396"/>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B9B0A2"/>
                </a:solidFill>
                <a:latin typeface="Georgia" pitchFamily="34" charset="0"/>
                <a:ea typeface="Georgia" pitchFamily="34" charset="-122"/>
                <a:cs typeface="Georgia" pitchFamily="34" charset="-120"/>
              </a:rPr>
              <a:t>3 years</a:t>
            </a:r>
            <a:endParaRPr lang="en-US" sz="2100" dirty="0"/>
          </a:p>
        </p:txBody>
      </p:sp>
      <p:sp>
        <p:nvSpPr>
          <p:cNvPr id="13" name="Text 10"/>
          <p:cNvSpPr/>
          <p:nvPr/>
        </p:nvSpPr>
        <p:spPr>
          <a:xfrm>
            <a:off x="8695401" y="7364073"/>
            <a:ext cx="1881931" cy="687586"/>
          </a:xfrm>
          <a:prstGeom prst="rect">
            <a:avLst/>
          </a:prstGeom>
          <a:noFill/>
          <a:ln/>
        </p:spPr>
        <p:txBody>
          <a:bodyPr wrap="square" lIns="25400" tIns="25400" rIns="25400" bIns="25400" rtlCol="0" anchor="t">
            <a:normAutofit/>
          </a:bodyPr>
          <a:lstStyle/>
          <a:p>
            <a:pPr marL="0" indent="0" algn="l">
              <a:lnSpc>
                <a:spcPct val="136400"/>
              </a:lnSpc>
              <a:buNone/>
            </a:pPr>
            <a:r>
              <a:rPr lang="en-US" sz="3300" dirty="0">
                <a:solidFill>
                  <a:srgbClr val="C96A57"/>
                </a:solidFill>
                <a:latin typeface="Georgia" pitchFamily="34" charset="0"/>
                <a:ea typeface="Georgia" pitchFamily="34" charset="-122"/>
                <a:cs typeface="Georgia" pitchFamily="34" charset="-120"/>
              </a:rPr>
              <a:t>−$0.9M</a:t>
            </a:r>
            <a:endParaRPr lang="en-US" sz="3300" dirty="0"/>
          </a:p>
        </p:txBody>
      </p:sp>
      <p:sp>
        <p:nvSpPr>
          <p:cNvPr id="14" name="Text 11"/>
          <p:cNvSpPr/>
          <p:nvPr/>
        </p:nvSpPr>
        <p:spPr>
          <a:xfrm>
            <a:off x="1238250" y="8427541"/>
            <a:ext cx="17392650" cy="451396"/>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B9B0A2"/>
                </a:solidFill>
                <a:latin typeface="Georgia" pitchFamily="34" charset="0"/>
                <a:ea typeface="Georgia" pitchFamily="34" charset="-122"/>
                <a:cs typeface="Georgia" pitchFamily="34" charset="-120"/>
              </a:rPr>
              <a:t>Resolved by one query against date-stamped HRIS records.</a:t>
            </a:r>
            <a:endParaRPr lang="en-US" sz="2100" dirty="0"/>
          </a:p>
        </p:txBody>
      </p:sp>
      <p:sp>
        <p:nvSpPr>
          <p:cNvPr id="15" name="Text 12"/>
          <p:cNvSpPr/>
          <p:nvPr/>
        </p:nvSpPr>
        <p:spPr>
          <a:xfrm>
            <a:off x="1238250" y="934223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16" name="Text 13"/>
          <p:cNvSpPr/>
          <p:nvPr/>
        </p:nvSpPr>
        <p:spPr>
          <a:xfrm>
            <a:off x="16794956" y="9342239"/>
            <a:ext cx="33099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2021532"/>
            <a:ext cx="17392650" cy="708571"/>
          </a:xfrm>
          <a:prstGeom prst="rect">
            <a:avLst/>
          </a:prstGeom>
          <a:noFill/>
          <a:ln/>
        </p:spPr>
        <p:txBody>
          <a:bodyPr wrap="square" lIns="25400" tIns="25400" rIns="25400" bIns="25400" rtlCol="0" anchor="t">
            <a:normAutofit lnSpcReduction="10000"/>
          </a:bodyPr>
          <a:lstStyle/>
          <a:p>
            <a:pPr marL="0" indent="0" algn="l">
              <a:lnSpc>
                <a:spcPct val="96438"/>
              </a:lnSpc>
              <a:buNone/>
            </a:pPr>
            <a:r>
              <a:rPr lang="en-US" sz="4800" kern="0" spc="-72" dirty="0">
                <a:solidFill>
                  <a:srgbClr val="F2EDE4"/>
                </a:solidFill>
                <a:latin typeface="Georgia" pitchFamily="34" charset="0"/>
                <a:ea typeface="Georgia" pitchFamily="34" charset="-122"/>
                <a:cs typeface="Georgia" pitchFamily="34" charset="-120"/>
              </a:rPr>
              <a:t>What We Haven't Proven</a:t>
            </a:r>
            <a:endParaRPr lang="en-US" sz="4800" dirty="0"/>
          </a:p>
        </p:txBody>
      </p:sp>
      <p:sp>
        <p:nvSpPr>
          <p:cNvPr id="3" name="Text 1"/>
          <p:cNvSpPr/>
          <p:nvPr/>
        </p:nvSpPr>
        <p:spPr>
          <a:xfrm>
            <a:off x="1238250" y="3492103"/>
            <a:ext cx="8015288" cy="571500"/>
          </a:xfrm>
          <a:prstGeom prst="rect">
            <a:avLst/>
          </a:prstGeom>
          <a:noFill/>
          <a:ln/>
        </p:spPr>
        <p:txBody>
          <a:bodyPr wrap="square" lIns="25400" tIns="25400" rIns="25400" bIns="25400" rtlCol="0" anchor="t">
            <a:normAutofit lnSpcReduction="10000"/>
          </a:bodyPr>
          <a:lstStyle/>
          <a:p>
            <a:pPr marL="0" indent="0" algn="l">
              <a:lnSpc>
                <a:spcPct val="88889"/>
              </a:lnSpc>
              <a:buNone/>
            </a:pPr>
            <a:r>
              <a:rPr lang="en-US" sz="4200" dirty="0">
                <a:solidFill>
                  <a:srgbClr val="8C98A8"/>
                </a:solidFill>
                <a:latin typeface="Georgia" pitchFamily="34" charset="0"/>
                <a:ea typeface="Georgia" pitchFamily="34" charset="-122"/>
                <a:cs typeface="Georgia" pitchFamily="34" charset="-120"/>
              </a:rPr>
              <a:t>✓</a:t>
            </a:r>
            <a:endParaRPr lang="en-US" sz="4200" dirty="0"/>
          </a:p>
        </p:txBody>
      </p:sp>
      <p:sp>
        <p:nvSpPr>
          <p:cNvPr id="4" name="Text 2"/>
          <p:cNvSpPr/>
          <p:nvPr/>
        </p:nvSpPr>
        <p:spPr>
          <a:xfrm>
            <a:off x="1238250" y="4311253"/>
            <a:ext cx="801528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VALIDATED</a:t>
            </a:r>
            <a:endParaRPr lang="en-US" sz="1800" dirty="0"/>
          </a:p>
        </p:txBody>
      </p:sp>
      <p:sp>
        <p:nvSpPr>
          <p:cNvPr id="5" name="Text 3"/>
          <p:cNvSpPr/>
          <p:nvPr/>
        </p:nvSpPr>
        <p:spPr>
          <a:xfrm>
            <a:off x="1238250" y="4855964"/>
            <a:ext cx="8015288" cy="483840"/>
          </a:xfrm>
          <a:prstGeom prst="rect">
            <a:avLst/>
          </a:prstGeom>
          <a:noFill/>
          <a:ln/>
        </p:spPr>
        <p:txBody>
          <a:bodyPr wrap="square" lIns="25400" tIns="25400" rIns="25400" bIns="25400" rtlCol="0" anchor="t">
            <a:normAutofit lnSpcReduction="10000"/>
          </a:bodyPr>
          <a:lstStyle/>
          <a:p>
            <a:pPr marL="0" indent="0" algn="l">
              <a:lnSpc>
                <a:spcPct val="114146"/>
              </a:lnSpc>
              <a:buNone/>
            </a:pPr>
            <a:r>
              <a:rPr lang="en-US" sz="2700" dirty="0">
                <a:solidFill>
                  <a:srgbClr val="F2EDE4"/>
                </a:solidFill>
                <a:latin typeface="Georgia" pitchFamily="34" charset="0"/>
                <a:ea typeface="Georgia" pitchFamily="34" charset="-122"/>
                <a:cs typeface="Georgia" pitchFamily="34" charset="-120"/>
              </a:rPr>
              <a:t>The model identifies who is at risk.</a:t>
            </a:r>
            <a:endParaRPr lang="en-US" sz="2700" dirty="0"/>
          </a:p>
        </p:txBody>
      </p:sp>
      <p:sp>
        <p:nvSpPr>
          <p:cNvPr id="6" name="Text 4"/>
          <p:cNvSpPr/>
          <p:nvPr/>
        </p:nvSpPr>
        <p:spPr>
          <a:xfrm>
            <a:off x="9763125" y="3492103"/>
            <a:ext cx="8015288" cy="571500"/>
          </a:xfrm>
          <a:prstGeom prst="rect">
            <a:avLst/>
          </a:prstGeom>
          <a:noFill/>
          <a:ln/>
        </p:spPr>
        <p:txBody>
          <a:bodyPr wrap="square" lIns="25400" tIns="25400" rIns="25400" bIns="25400" rtlCol="0" anchor="t">
            <a:normAutofit lnSpcReduction="10000"/>
          </a:bodyPr>
          <a:lstStyle/>
          <a:p>
            <a:pPr marL="0" indent="0" algn="l">
              <a:lnSpc>
                <a:spcPct val="88889"/>
              </a:lnSpc>
              <a:buNone/>
            </a:pPr>
            <a:r>
              <a:rPr lang="en-US" sz="4200" dirty="0">
                <a:solidFill>
                  <a:srgbClr val="E9A13B"/>
                </a:solidFill>
                <a:latin typeface="Georgia" pitchFamily="34" charset="0"/>
                <a:ea typeface="Georgia" pitchFamily="34" charset="-122"/>
                <a:cs typeface="Georgia" pitchFamily="34" charset="-120"/>
              </a:rPr>
              <a:t>?</a:t>
            </a:r>
            <a:endParaRPr lang="en-US" sz="4200" dirty="0"/>
          </a:p>
        </p:txBody>
      </p:sp>
      <p:sp>
        <p:nvSpPr>
          <p:cNvPr id="7" name="Text 5"/>
          <p:cNvSpPr/>
          <p:nvPr/>
        </p:nvSpPr>
        <p:spPr>
          <a:xfrm>
            <a:off x="9763125" y="4311253"/>
            <a:ext cx="801528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E9A13B"/>
                </a:solidFill>
                <a:latin typeface="Georgia" pitchFamily="34" charset="0"/>
                <a:ea typeface="Georgia" pitchFamily="34" charset="-122"/>
                <a:cs typeface="Georgia" pitchFamily="34" charset="-120"/>
              </a:rPr>
              <a:t>NOT VALIDATED</a:t>
            </a:r>
            <a:endParaRPr lang="en-US" sz="1800" dirty="0"/>
          </a:p>
        </p:txBody>
      </p:sp>
      <p:sp>
        <p:nvSpPr>
          <p:cNvPr id="8" name="Text 6"/>
          <p:cNvSpPr/>
          <p:nvPr/>
        </p:nvSpPr>
        <p:spPr>
          <a:xfrm>
            <a:off x="9763125" y="4855964"/>
            <a:ext cx="7505224" cy="929580"/>
          </a:xfrm>
          <a:prstGeom prst="rect">
            <a:avLst/>
          </a:prstGeom>
          <a:noFill/>
          <a:ln/>
        </p:spPr>
        <p:txBody>
          <a:bodyPr wrap="square" lIns="25400" tIns="25400" rIns="25400" bIns="25400" rtlCol="0" anchor="t">
            <a:normAutofit/>
          </a:bodyPr>
          <a:lstStyle/>
          <a:p>
            <a:pPr marL="0" indent="0" algn="l">
              <a:lnSpc>
                <a:spcPct val="114146"/>
              </a:lnSpc>
              <a:buNone/>
            </a:pPr>
            <a:r>
              <a:rPr lang="en-US" sz="2700" dirty="0">
                <a:solidFill>
                  <a:srgbClr val="E9A13B"/>
                </a:solidFill>
                <a:latin typeface="Georgia" pitchFamily="34" charset="0"/>
                <a:ea typeface="Georgia" pitchFamily="34" charset="-122"/>
                <a:cs typeface="Georgia" pitchFamily="34" charset="-120"/>
              </a:rPr>
              <a:t>Whether the intervention changes their decision.</a:t>
            </a:r>
            <a:endParaRPr lang="en-US" sz="2700" dirty="0"/>
          </a:p>
        </p:txBody>
      </p:sp>
      <p:sp>
        <p:nvSpPr>
          <p:cNvPr id="9" name="Text 7"/>
          <p:cNvSpPr/>
          <p:nvPr/>
        </p:nvSpPr>
        <p:spPr>
          <a:xfrm>
            <a:off x="1238250" y="6661845"/>
            <a:ext cx="1466850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252" dirty="0">
                <a:solidFill>
                  <a:srgbClr val="7D8899"/>
                </a:solidFill>
                <a:latin typeface="Georgia" pitchFamily="34" charset="0"/>
                <a:ea typeface="Georgia" pitchFamily="34" charset="-122"/>
                <a:cs typeface="Georgia" pitchFamily="34" charset="-120"/>
              </a:rPr>
              <a:t>PROJECTED ROI ACROSS THE EFFECTIVENESS ASSUMPTION</a:t>
            </a:r>
            <a:endParaRPr lang="en-US" sz="1800" dirty="0"/>
          </a:p>
        </p:txBody>
      </p:sp>
      <p:sp>
        <p:nvSpPr>
          <p:cNvPr id="10" name="Shape 8"/>
          <p:cNvSpPr/>
          <p:nvPr/>
        </p:nvSpPr>
        <p:spPr>
          <a:xfrm>
            <a:off x="1238250" y="7244655"/>
            <a:ext cx="13335000" cy="419100"/>
          </a:xfrm>
          <a:prstGeom prst="roundRect">
            <a:avLst>
              <a:gd name="adj" fmla="val 4545"/>
            </a:avLst>
          </a:prstGeom>
          <a:solidFill>
            <a:srgbClr val="18212E"/>
          </a:solidFill>
          <a:ln/>
        </p:spPr>
        <p:txBody>
          <a:bodyPr/>
          <a:lstStyle/>
          <a:p>
            <a:endParaRPr lang="en-ZA"/>
          </a:p>
        </p:txBody>
      </p:sp>
      <p:sp>
        <p:nvSpPr>
          <p:cNvPr id="11" name="Shape 9"/>
          <p:cNvSpPr/>
          <p:nvPr/>
        </p:nvSpPr>
        <p:spPr>
          <a:xfrm>
            <a:off x="2838450" y="7244655"/>
            <a:ext cx="10494615" cy="419100"/>
          </a:xfrm>
          <a:prstGeom prst="roundRect">
            <a:avLst>
              <a:gd name="adj" fmla="val 4545"/>
            </a:avLst>
          </a:prstGeom>
          <a:solidFill>
            <a:srgbClr val="2F4152"/>
          </a:solidFill>
          <a:ln/>
        </p:spPr>
        <p:txBody>
          <a:bodyPr/>
          <a:lstStyle/>
          <a:p>
            <a:endParaRPr lang="en-ZA"/>
          </a:p>
        </p:txBody>
      </p:sp>
      <p:sp>
        <p:nvSpPr>
          <p:cNvPr id="12" name="Text 10"/>
          <p:cNvSpPr/>
          <p:nvPr/>
        </p:nvSpPr>
        <p:spPr>
          <a:xfrm>
            <a:off x="2608213" y="7797105"/>
            <a:ext cx="536674"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B9B0A2"/>
                </a:solidFill>
                <a:latin typeface="Georgia" pitchFamily="34" charset="0"/>
                <a:ea typeface="Georgia" pitchFamily="34" charset="-122"/>
                <a:cs typeface="Georgia" pitchFamily="34" charset="-120"/>
              </a:rPr>
              <a:t>18%</a:t>
            </a:r>
            <a:endParaRPr lang="en-US" sz="1950" dirty="0"/>
          </a:p>
        </p:txBody>
      </p:sp>
      <p:sp>
        <p:nvSpPr>
          <p:cNvPr id="13" name="Text 11"/>
          <p:cNvSpPr/>
          <p:nvPr/>
        </p:nvSpPr>
        <p:spPr>
          <a:xfrm>
            <a:off x="13041437" y="7797105"/>
            <a:ext cx="659457"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B9B0A2"/>
                </a:solidFill>
                <a:latin typeface="Georgia" pitchFamily="34" charset="0"/>
                <a:ea typeface="Georgia" pitchFamily="34" charset="-122"/>
                <a:cs typeface="Georgia" pitchFamily="34" charset="-120"/>
              </a:rPr>
              <a:t>136%</a:t>
            </a:r>
            <a:endParaRPr lang="en-US" sz="1950" dirty="0"/>
          </a:p>
        </p:txBody>
      </p:sp>
      <p:sp>
        <p:nvSpPr>
          <p:cNvPr id="14" name="Text 12"/>
          <p:cNvSpPr/>
          <p:nvPr/>
        </p:nvSpPr>
        <p:spPr>
          <a:xfrm>
            <a:off x="1238250" y="92469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15" name="Text 13"/>
          <p:cNvSpPr/>
          <p:nvPr/>
        </p:nvSpPr>
        <p:spPr>
          <a:xfrm>
            <a:off x="16794956" y="9246989"/>
            <a:ext cx="33099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38250" y="2043410"/>
            <a:ext cx="17392650" cy="624780"/>
          </a:xfrm>
          <a:prstGeom prst="rect">
            <a:avLst/>
          </a:prstGeom>
          <a:noFill/>
          <a:ln/>
        </p:spPr>
        <p:txBody>
          <a:bodyPr wrap="square" lIns="25400" tIns="25400" rIns="25400" bIns="25400" rtlCol="0" anchor="t">
            <a:normAutofit lnSpcReduction="10000"/>
          </a:bodyPr>
          <a:lstStyle/>
          <a:p>
            <a:pPr marL="0" indent="0" algn="l">
              <a:lnSpc>
                <a:spcPct val="97778"/>
              </a:lnSpc>
              <a:buNone/>
            </a:pPr>
            <a:r>
              <a:rPr lang="en-US" sz="4200" kern="0" spc="-63" dirty="0">
                <a:solidFill>
                  <a:srgbClr val="F2EDE4"/>
                </a:solidFill>
                <a:latin typeface="Georgia" pitchFamily="34" charset="0"/>
                <a:ea typeface="Georgia" pitchFamily="34" charset="-122"/>
                <a:cs typeface="Georgia" pitchFamily="34" charset="-120"/>
              </a:rPr>
              <a:t>The Ask</a:t>
            </a:r>
            <a:endParaRPr lang="en-US" sz="4200" dirty="0"/>
          </a:p>
        </p:txBody>
      </p:sp>
      <p:sp>
        <p:nvSpPr>
          <p:cNvPr id="3" name="Text 1"/>
          <p:cNvSpPr/>
          <p:nvPr/>
        </p:nvSpPr>
        <p:spPr>
          <a:xfrm>
            <a:off x="1238250" y="2820591"/>
            <a:ext cx="17392650" cy="1078111"/>
          </a:xfrm>
          <a:prstGeom prst="rect">
            <a:avLst/>
          </a:prstGeom>
          <a:noFill/>
          <a:ln/>
        </p:spPr>
        <p:txBody>
          <a:bodyPr wrap="square" lIns="25400" tIns="25400" rIns="25400" bIns="25400" rtlCol="0" anchor="t">
            <a:normAutofit lnSpcReduction="10000"/>
          </a:bodyPr>
          <a:lstStyle/>
          <a:p>
            <a:pPr marL="0" indent="0" algn="l">
              <a:lnSpc>
                <a:spcPct val="92542"/>
              </a:lnSpc>
              <a:buNone/>
            </a:pPr>
            <a:r>
              <a:rPr lang="en-US" sz="7800" kern="0" spc="-156" dirty="0">
                <a:solidFill>
                  <a:srgbClr val="E9A13B"/>
                </a:solidFill>
                <a:latin typeface="Georgia" pitchFamily="34" charset="0"/>
                <a:ea typeface="Georgia" pitchFamily="34" charset="-122"/>
                <a:cs typeface="Georgia" pitchFamily="34" charset="-120"/>
              </a:rPr>
              <a:t>$185,000</a:t>
            </a:r>
            <a:endParaRPr lang="en-US" sz="7800" dirty="0"/>
          </a:p>
        </p:txBody>
      </p:sp>
      <p:sp>
        <p:nvSpPr>
          <p:cNvPr id="4" name="Text 2"/>
          <p:cNvSpPr/>
          <p:nvPr/>
        </p:nvSpPr>
        <p:spPr>
          <a:xfrm>
            <a:off x="1238250" y="3993952"/>
            <a:ext cx="17392650" cy="481012"/>
          </a:xfrm>
          <a:prstGeom prst="rect">
            <a:avLst/>
          </a:prstGeom>
          <a:noFill/>
          <a:ln/>
        </p:spPr>
        <p:txBody>
          <a:bodyPr wrap="square" lIns="25400" tIns="25400" rIns="25400" bIns="25400" rtlCol="0" anchor="t">
            <a:normAutofit/>
          </a:bodyPr>
          <a:lstStyle/>
          <a:p>
            <a:pPr marL="0" indent="0" algn="l">
              <a:lnSpc>
                <a:spcPct val="132857"/>
              </a:lnSpc>
              <a:buNone/>
            </a:pPr>
            <a:r>
              <a:rPr lang="en-US" sz="2250" dirty="0">
                <a:solidFill>
                  <a:srgbClr val="B9B0A2"/>
                </a:solidFill>
                <a:latin typeface="Georgia" pitchFamily="34" charset="0"/>
                <a:ea typeface="Georgia" pitchFamily="34" charset="-122"/>
                <a:cs typeface="Georgia" pitchFamily="34" charset="-120"/>
              </a:rPr>
              <a:t>Phase 1 only.</a:t>
            </a:r>
            <a:endParaRPr lang="en-US" sz="2250" dirty="0"/>
          </a:p>
        </p:txBody>
      </p:sp>
      <p:sp>
        <p:nvSpPr>
          <p:cNvPr id="5" name="Shape 3"/>
          <p:cNvSpPr/>
          <p:nvPr/>
        </p:nvSpPr>
        <p:spPr>
          <a:xfrm>
            <a:off x="1238250" y="5160764"/>
            <a:ext cx="2524125" cy="1896219"/>
          </a:xfrm>
          <a:custGeom>
            <a:avLst/>
            <a:gdLst/>
            <a:ahLst/>
            <a:cxnLst/>
            <a:rect l="l" t="t" r="r" b="b"/>
            <a:pathLst>
              <a:path w="2524125" h="1896219">
                <a:moveTo>
                  <a:pt x="19050" y="0"/>
                </a:moveTo>
                <a:lnTo>
                  <a:pt x="2524125" y="0"/>
                </a:lnTo>
                <a:lnTo>
                  <a:pt x="2524125" y="1896219"/>
                </a:lnTo>
                <a:lnTo>
                  <a:pt x="19050" y="1896219"/>
                </a:lnTo>
                <a:arcTo wR="19050" hR="19050" stAng="5400000" swAng="5400000"/>
                <a:lnTo>
                  <a:pt x="0" y="19050"/>
                </a:lnTo>
                <a:arcTo wR="19050" hR="19050" stAng="10800000" swAng="5400000"/>
                <a:close/>
              </a:path>
            </a:pathLst>
          </a:custGeom>
          <a:solidFill>
            <a:srgbClr val="1B2531"/>
          </a:solidFill>
          <a:ln/>
        </p:spPr>
        <p:txBody>
          <a:bodyPr/>
          <a:lstStyle/>
          <a:p>
            <a:endParaRPr lang="en-ZA"/>
          </a:p>
        </p:txBody>
      </p:sp>
      <p:sp>
        <p:nvSpPr>
          <p:cNvPr id="6" name="Text 4"/>
          <p:cNvSpPr/>
          <p:nvPr/>
        </p:nvSpPr>
        <p:spPr>
          <a:xfrm>
            <a:off x="1504950" y="5408414"/>
            <a:ext cx="218979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80" dirty="0">
                <a:solidFill>
                  <a:srgbClr val="8C98A8"/>
                </a:solidFill>
                <a:latin typeface="Georgia" pitchFamily="34" charset="0"/>
                <a:ea typeface="Georgia" pitchFamily="34" charset="-122"/>
                <a:cs typeface="Georgia" pitchFamily="34" charset="-120"/>
              </a:rPr>
              <a:t>PHASE 1</a:t>
            </a:r>
            <a:endParaRPr lang="en-US" sz="1800" dirty="0"/>
          </a:p>
        </p:txBody>
      </p:sp>
      <p:sp>
        <p:nvSpPr>
          <p:cNvPr id="7" name="Text 5"/>
          <p:cNvSpPr/>
          <p:nvPr/>
        </p:nvSpPr>
        <p:spPr>
          <a:xfrm>
            <a:off x="1504950" y="5876925"/>
            <a:ext cx="2189798" cy="510480"/>
          </a:xfrm>
          <a:prstGeom prst="rect">
            <a:avLst/>
          </a:prstGeom>
          <a:noFill/>
          <a:ln/>
        </p:spPr>
        <p:txBody>
          <a:bodyPr wrap="square" lIns="25400" tIns="25400" rIns="25400" bIns="25400" rtlCol="0" anchor="t">
            <a:normAutofit/>
          </a:bodyPr>
          <a:lstStyle/>
          <a:p>
            <a:pPr marL="0" indent="0" algn="l">
              <a:lnSpc>
                <a:spcPct val="137778"/>
              </a:lnSpc>
              <a:buNone/>
            </a:pPr>
            <a:r>
              <a:rPr lang="en-US" sz="2400" dirty="0">
                <a:solidFill>
                  <a:srgbClr val="F2EDE4"/>
                </a:solidFill>
                <a:latin typeface="Georgia" pitchFamily="34" charset="0"/>
                <a:ea typeface="Georgia" pitchFamily="34" charset="-122"/>
                <a:cs typeface="Georgia" pitchFamily="34" charset="-120"/>
              </a:rPr>
              <a:t>Foundation</a:t>
            </a:r>
            <a:endParaRPr lang="en-US" sz="2400" dirty="0"/>
          </a:p>
        </p:txBody>
      </p:sp>
      <p:sp>
        <p:nvSpPr>
          <p:cNvPr id="8" name="Text 6"/>
          <p:cNvSpPr/>
          <p:nvPr/>
        </p:nvSpPr>
        <p:spPr>
          <a:xfrm>
            <a:off x="1504950" y="6425505"/>
            <a:ext cx="2189798"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Months 1–3</a:t>
            </a:r>
            <a:endParaRPr lang="en-US" sz="1950" dirty="0"/>
          </a:p>
        </p:txBody>
      </p:sp>
      <p:sp>
        <p:nvSpPr>
          <p:cNvPr id="9" name="Shape 7"/>
          <p:cNvSpPr/>
          <p:nvPr/>
        </p:nvSpPr>
        <p:spPr>
          <a:xfrm>
            <a:off x="3762375" y="5160764"/>
            <a:ext cx="2857500" cy="1896219"/>
          </a:xfrm>
          <a:prstGeom prst="rect">
            <a:avLst/>
          </a:prstGeom>
          <a:solidFill>
            <a:srgbClr val="101722"/>
          </a:solidFill>
          <a:ln/>
        </p:spPr>
        <p:txBody>
          <a:bodyPr/>
          <a:lstStyle/>
          <a:p>
            <a:endParaRPr lang="en-ZA"/>
          </a:p>
        </p:txBody>
      </p:sp>
      <p:sp>
        <p:nvSpPr>
          <p:cNvPr id="10" name="Shape 8"/>
          <p:cNvSpPr/>
          <p:nvPr/>
        </p:nvSpPr>
        <p:spPr>
          <a:xfrm>
            <a:off x="3762375" y="5160764"/>
            <a:ext cx="28575" cy="1896219"/>
          </a:xfrm>
          <a:prstGeom prst="rect">
            <a:avLst/>
          </a:prstGeom>
          <a:solidFill>
            <a:srgbClr val="E9A13B"/>
          </a:solidFill>
          <a:ln/>
        </p:spPr>
        <p:txBody>
          <a:bodyPr/>
          <a:lstStyle/>
          <a:p>
            <a:endParaRPr lang="en-ZA"/>
          </a:p>
        </p:txBody>
      </p:sp>
      <p:sp>
        <p:nvSpPr>
          <p:cNvPr id="11" name="Shape 9"/>
          <p:cNvSpPr/>
          <p:nvPr/>
        </p:nvSpPr>
        <p:spPr>
          <a:xfrm>
            <a:off x="6591300" y="5160764"/>
            <a:ext cx="28575" cy="1896219"/>
          </a:xfrm>
          <a:prstGeom prst="rect">
            <a:avLst/>
          </a:prstGeom>
          <a:solidFill>
            <a:srgbClr val="E9A13B"/>
          </a:solidFill>
          <a:ln/>
        </p:spPr>
        <p:txBody>
          <a:bodyPr/>
          <a:lstStyle/>
          <a:p>
            <a:endParaRPr lang="en-ZA"/>
          </a:p>
        </p:txBody>
      </p:sp>
      <p:sp>
        <p:nvSpPr>
          <p:cNvPr id="12" name="Text 10"/>
          <p:cNvSpPr/>
          <p:nvPr/>
        </p:nvSpPr>
        <p:spPr>
          <a:xfrm>
            <a:off x="4114800" y="5553075"/>
            <a:ext cx="2367915"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80" dirty="0">
                <a:solidFill>
                  <a:srgbClr val="E9A13B"/>
                </a:solidFill>
                <a:latin typeface="Georgia" pitchFamily="34" charset="0"/>
                <a:ea typeface="Georgia" pitchFamily="34" charset="-122"/>
                <a:cs typeface="Georgia" pitchFamily="34" charset="-120"/>
              </a:rPr>
              <a:t>GATE 1</a:t>
            </a:r>
            <a:endParaRPr lang="en-US" sz="1800" dirty="0"/>
          </a:p>
        </p:txBody>
      </p:sp>
      <p:sp>
        <p:nvSpPr>
          <p:cNvPr id="13" name="Text 11"/>
          <p:cNvSpPr/>
          <p:nvPr/>
        </p:nvSpPr>
        <p:spPr>
          <a:xfrm>
            <a:off x="4114800" y="6021586"/>
            <a:ext cx="2228850" cy="681038"/>
          </a:xfrm>
          <a:prstGeom prst="rect">
            <a:avLst/>
          </a:prstGeom>
          <a:noFill/>
          <a:ln/>
        </p:spPr>
        <p:txBody>
          <a:bodyPr wrap="square" lIns="25400" tIns="25400" rIns="25400" bIns="25400" rtlCol="0" anchor="t">
            <a:normAutofit lnSpcReduction="10000"/>
          </a:bodyPr>
          <a:lstStyle/>
          <a:p>
            <a:pPr marL="0" indent="0" algn="l">
              <a:lnSpc>
                <a:spcPct val="108871"/>
              </a:lnSpc>
              <a:buNone/>
            </a:pPr>
            <a:r>
              <a:rPr lang="en-US" sz="2025" dirty="0">
                <a:solidFill>
                  <a:srgbClr val="F2EDE4"/>
                </a:solidFill>
                <a:latin typeface="Georgia" pitchFamily="34" charset="0"/>
                <a:ea typeface="Georgia" pitchFamily="34" charset="-122"/>
                <a:cs typeface="Georgia" pitchFamily="34" charset="-120"/>
              </a:rPr>
              <a:t>Confirm attrition velocity</a:t>
            </a:r>
            <a:endParaRPr lang="en-US" sz="2025" dirty="0"/>
          </a:p>
        </p:txBody>
      </p:sp>
      <p:sp>
        <p:nvSpPr>
          <p:cNvPr id="14" name="Shape 12"/>
          <p:cNvSpPr/>
          <p:nvPr/>
        </p:nvSpPr>
        <p:spPr>
          <a:xfrm>
            <a:off x="6619875" y="5160764"/>
            <a:ext cx="2524125" cy="1896219"/>
          </a:xfrm>
          <a:prstGeom prst="rect">
            <a:avLst/>
          </a:prstGeom>
          <a:solidFill>
            <a:srgbClr val="1B2531"/>
          </a:solidFill>
          <a:ln/>
        </p:spPr>
        <p:txBody>
          <a:bodyPr/>
          <a:lstStyle/>
          <a:p>
            <a:endParaRPr lang="en-ZA"/>
          </a:p>
        </p:txBody>
      </p:sp>
      <p:sp>
        <p:nvSpPr>
          <p:cNvPr id="15" name="Text 13"/>
          <p:cNvSpPr/>
          <p:nvPr/>
        </p:nvSpPr>
        <p:spPr>
          <a:xfrm>
            <a:off x="6886575" y="5408414"/>
            <a:ext cx="218979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80" dirty="0">
                <a:solidFill>
                  <a:srgbClr val="8C98A8"/>
                </a:solidFill>
                <a:latin typeface="Georgia" pitchFamily="34" charset="0"/>
                <a:ea typeface="Georgia" pitchFamily="34" charset="-122"/>
                <a:cs typeface="Georgia" pitchFamily="34" charset="-120"/>
              </a:rPr>
              <a:t>PHASE 2</a:t>
            </a:r>
            <a:endParaRPr lang="en-US" sz="1800" dirty="0"/>
          </a:p>
        </p:txBody>
      </p:sp>
      <p:sp>
        <p:nvSpPr>
          <p:cNvPr id="16" name="Text 14"/>
          <p:cNvSpPr/>
          <p:nvPr/>
        </p:nvSpPr>
        <p:spPr>
          <a:xfrm>
            <a:off x="6886575" y="5876925"/>
            <a:ext cx="2189798" cy="510480"/>
          </a:xfrm>
          <a:prstGeom prst="rect">
            <a:avLst/>
          </a:prstGeom>
          <a:noFill/>
          <a:ln/>
        </p:spPr>
        <p:txBody>
          <a:bodyPr wrap="square" lIns="25400" tIns="25400" rIns="25400" bIns="25400" rtlCol="0" anchor="t">
            <a:normAutofit/>
          </a:bodyPr>
          <a:lstStyle/>
          <a:p>
            <a:pPr marL="0" indent="0" algn="l">
              <a:lnSpc>
                <a:spcPct val="137778"/>
              </a:lnSpc>
              <a:buNone/>
            </a:pPr>
            <a:r>
              <a:rPr lang="en-US" sz="2400" dirty="0">
                <a:solidFill>
                  <a:srgbClr val="F2EDE4"/>
                </a:solidFill>
                <a:latin typeface="Georgia" pitchFamily="34" charset="0"/>
                <a:ea typeface="Georgia" pitchFamily="34" charset="-122"/>
                <a:cs typeface="Georgia" pitchFamily="34" charset="-120"/>
              </a:rPr>
              <a:t>Pilot</a:t>
            </a:r>
            <a:endParaRPr lang="en-US" sz="2400" dirty="0"/>
          </a:p>
        </p:txBody>
      </p:sp>
      <p:sp>
        <p:nvSpPr>
          <p:cNvPr id="17" name="Text 15"/>
          <p:cNvSpPr/>
          <p:nvPr/>
        </p:nvSpPr>
        <p:spPr>
          <a:xfrm>
            <a:off x="6886575" y="6425505"/>
            <a:ext cx="2189798"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Months 4–6</a:t>
            </a:r>
            <a:endParaRPr lang="en-US" sz="1950" dirty="0"/>
          </a:p>
        </p:txBody>
      </p:sp>
      <p:sp>
        <p:nvSpPr>
          <p:cNvPr id="18" name="Shape 16"/>
          <p:cNvSpPr/>
          <p:nvPr/>
        </p:nvSpPr>
        <p:spPr>
          <a:xfrm>
            <a:off x="9144000" y="5160764"/>
            <a:ext cx="2857500" cy="1896219"/>
          </a:xfrm>
          <a:prstGeom prst="rect">
            <a:avLst/>
          </a:prstGeom>
          <a:solidFill>
            <a:srgbClr val="101722"/>
          </a:solidFill>
          <a:ln/>
        </p:spPr>
        <p:txBody>
          <a:bodyPr/>
          <a:lstStyle/>
          <a:p>
            <a:endParaRPr lang="en-ZA"/>
          </a:p>
        </p:txBody>
      </p:sp>
      <p:sp>
        <p:nvSpPr>
          <p:cNvPr id="19" name="Shape 17"/>
          <p:cNvSpPr/>
          <p:nvPr/>
        </p:nvSpPr>
        <p:spPr>
          <a:xfrm>
            <a:off x="9144000" y="5160764"/>
            <a:ext cx="28575" cy="1896219"/>
          </a:xfrm>
          <a:prstGeom prst="rect">
            <a:avLst/>
          </a:prstGeom>
          <a:solidFill>
            <a:srgbClr val="E9A13B"/>
          </a:solidFill>
          <a:ln/>
        </p:spPr>
        <p:txBody>
          <a:bodyPr/>
          <a:lstStyle/>
          <a:p>
            <a:endParaRPr lang="en-ZA"/>
          </a:p>
        </p:txBody>
      </p:sp>
      <p:sp>
        <p:nvSpPr>
          <p:cNvPr id="20" name="Shape 18"/>
          <p:cNvSpPr/>
          <p:nvPr/>
        </p:nvSpPr>
        <p:spPr>
          <a:xfrm>
            <a:off x="11972925" y="5160764"/>
            <a:ext cx="28575" cy="1896219"/>
          </a:xfrm>
          <a:prstGeom prst="rect">
            <a:avLst/>
          </a:prstGeom>
          <a:solidFill>
            <a:srgbClr val="E9A13B"/>
          </a:solidFill>
          <a:ln/>
        </p:spPr>
        <p:txBody>
          <a:bodyPr/>
          <a:lstStyle/>
          <a:p>
            <a:endParaRPr lang="en-ZA"/>
          </a:p>
        </p:txBody>
      </p:sp>
      <p:sp>
        <p:nvSpPr>
          <p:cNvPr id="21" name="Text 19"/>
          <p:cNvSpPr/>
          <p:nvPr/>
        </p:nvSpPr>
        <p:spPr>
          <a:xfrm>
            <a:off x="9496425" y="5553075"/>
            <a:ext cx="2367915"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80" dirty="0">
                <a:solidFill>
                  <a:srgbClr val="E9A13B"/>
                </a:solidFill>
                <a:latin typeface="Georgia" pitchFamily="34" charset="0"/>
                <a:ea typeface="Georgia" pitchFamily="34" charset="-122"/>
                <a:cs typeface="Georgia" pitchFamily="34" charset="-120"/>
              </a:rPr>
              <a:t>GATE 2</a:t>
            </a:r>
            <a:endParaRPr lang="en-US" sz="1800" dirty="0"/>
          </a:p>
        </p:txBody>
      </p:sp>
      <p:sp>
        <p:nvSpPr>
          <p:cNvPr id="22" name="Text 20"/>
          <p:cNvSpPr/>
          <p:nvPr/>
        </p:nvSpPr>
        <p:spPr>
          <a:xfrm>
            <a:off x="9496425" y="6021586"/>
            <a:ext cx="2228850" cy="681038"/>
          </a:xfrm>
          <a:prstGeom prst="rect">
            <a:avLst/>
          </a:prstGeom>
          <a:noFill/>
          <a:ln/>
        </p:spPr>
        <p:txBody>
          <a:bodyPr wrap="square" lIns="25400" tIns="25400" rIns="25400" bIns="25400" rtlCol="0" anchor="t">
            <a:normAutofit lnSpcReduction="10000"/>
          </a:bodyPr>
          <a:lstStyle/>
          <a:p>
            <a:pPr marL="0" indent="0" algn="l">
              <a:lnSpc>
                <a:spcPct val="108871"/>
              </a:lnSpc>
              <a:buNone/>
            </a:pPr>
            <a:r>
              <a:rPr lang="en-US" sz="2025" dirty="0">
                <a:solidFill>
                  <a:srgbClr val="F2EDE4"/>
                </a:solidFill>
                <a:latin typeface="Georgia" pitchFamily="34" charset="0"/>
                <a:ea typeface="Georgia" pitchFamily="34" charset="-122"/>
                <a:cs typeface="Georgia" pitchFamily="34" charset="-120"/>
              </a:rPr>
              <a:t>Effectiveness ≥16.9%</a:t>
            </a:r>
            <a:endParaRPr lang="en-US" sz="2025" dirty="0"/>
          </a:p>
        </p:txBody>
      </p:sp>
      <p:sp>
        <p:nvSpPr>
          <p:cNvPr id="23" name="Shape 21"/>
          <p:cNvSpPr/>
          <p:nvPr/>
        </p:nvSpPr>
        <p:spPr>
          <a:xfrm>
            <a:off x="12001500" y="5160764"/>
            <a:ext cx="2524125" cy="1896219"/>
          </a:xfrm>
          <a:prstGeom prst="rect">
            <a:avLst/>
          </a:prstGeom>
          <a:solidFill>
            <a:srgbClr val="1B2531"/>
          </a:solidFill>
          <a:ln/>
        </p:spPr>
        <p:txBody>
          <a:bodyPr/>
          <a:lstStyle/>
          <a:p>
            <a:endParaRPr lang="en-ZA"/>
          </a:p>
        </p:txBody>
      </p:sp>
      <p:sp>
        <p:nvSpPr>
          <p:cNvPr id="24" name="Text 22"/>
          <p:cNvSpPr/>
          <p:nvPr/>
        </p:nvSpPr>
        <p:spPr>
          <a:xfrm>
            <a:off x="12268200" y="5408414"/>
            <a:ext cx="218979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80" dirty="0">
                <a:solidFill>
                  <a:srgbClr val="8C98A8"/>
                </a:solidFill>
                <a:latin typeface="Georgia" pitchFamily="34" charset="0"/>
                <a:ea typeface="Georgia" pitchFamily="34" charset="-122"/>
                <a:cs typeface="Georgia" pitchFamily="34" charset="-120"/>
              </a:rPr>
              <a:t>PHASE 3</a:t>
            </a:r>
            <a:endParaRPr lang="en-US" sz="1800" dirty="0"/>
          </a:p>
        </p:txBody>
      </p:sp>
      <p:sp>
        <p:nvSpPr>
          <p:cNvPr id="25" name="Text 23"/>
          <p:cNvSpPr/>
          <p:nvPr/>
        </p:nvSpPr>
        <p:spPr>
          <a:xfrm>
            <a:off x="12268200" y="5876925"/>
            <a:ext cx="2189798" cy="510480"/>
          </a:xfrm>
          <a:prstGeom prst="rect">
            <a:avLst/>
          </a:prstGeom>
          <a:noFill/>
          <a:ln/>
        </p:spPr>
        <p:txBody>
          <a:bodyPr wrap="square" lIns="25400" tIns="25400" rIns="25400" bIns="25400" rtlCol="0" anchor="t">
            <a:normAutofit/>
          </a:bodyPr>
          <a:lstStyle/>
          <a:p>
            <a:pPr marL="0" indent="0" algn="l">
              <a:lnSpc>
                <a:spcPct val="137778"/>
              </a:lnSpc>
              <a:buNone/>
            </a:pPr>
            <a:r>
              <a:rPr lang="en-US" sz="2400" dirty="0">
                <a:solidFill>
                  <a:srgbClr val="F2EDE4"/>
                </a:solidFill>
                <a:latin typeface="Georgia" pitchFamily="34" charset="0"/>
                <a:ea typeface="Georgia" pitchFamily="34" charset="-122"/>
                <a:cs typeface="Georgia" pitchFamily="34" charset="-120"/>
              </a:rPr>
              <a:t>Deployment</a:t>
            </a:r>
            <a:endParaRPr lang="en-US" sz="2400" dirty="0"/>
          </a:p>
        </p:txBody>
      </p:sp>
      <p:sp>
        <p:nvSpPr>
          <p:cNvPr id="26" name="Text 24"/>
          <p:cNvSpPr/>
          <p:nvPr/>
        </p:nvSpPr>
        <p:spPr>
          <a:xfrm>
            <a:off x="12268200" y="6425505"/>
            <a:ext cx="2189798"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Months 7–12</a:t>
            </a:r>
            <a:endParaRPr lang="en-US" sz="1950" dirty="0"/>
          </a:p>
        </p:txBody>
      </p:sp>
      <p:sp>
        <p:nvSpPr>
          <p:cNvPr id="27" name="Shape 25"/>
          <p:cNvSpPr/>
          <p:nvPr/>
        </p:nvSpPr>
        <p:spPr>
          <a:xfrm>
            <a:off x="14525625" y="5160764"/>
            <a:ext cx="2524125" cy="1896219"/>
          </a:xfrm>
          <a:custGeom>
            <a:avLst/>
            <a:gdLst/>
            <a:ahLst/>
            <a:cxnLst/>
            <a:rect l="l" t="t" r="r" b="b"/>
            <a:pathLst>
              <a:path w="2524125" h="1896219">
                <a:moveTo>
                  <a:pt x="0" y="0"/>
                </a:moveTo>
                <a:lnTo>
                  <a:pt x="2505075" y="0"/>
                </a:lnTo>
                <a:arcTo wR="19050" hR="19050" stAng="16200000" swAng="5400000"/>
                <a:lnTo>
                  <a:pt x="2524125" y="1877169"/>
                </a:lnTo>
                <a:arcTo wR="19050" hR="19050" stAng="0" swAng="5400000"/>
                <a:lnTo>
                  <a:pt x="0" y="1896219"/>
                </a:lnTo>
                <a:lnTo>
                  <a:pt x="0" y="0"/>
                </a:lnTo>
                <a:close/>
              </a:path>
            </a:pathLst>
          </a:custGeom>
          <a:solidFill>
            <a:srgbClr val="161E29"/>
          </a:solidFill>
          <a:ln/>
        </p:spPr>
        <p:txBody>
          <a:bodyPr/>
          <a:lstStyle/>
          <a:p>
            <a:endParaRPr lang="en-ZA"/>
          </a:p>
        </p:txBody>
      </p:sp>
      <p:sp>
        <p:nvSpPr>
          <p:cNvPr id="28" name="Text 26"/>
          <p:cNvSpPr/>
          <p:nvPr/>
        </p:nvSpPr>
        <p:spPr>
          <a:xfrm>
            <a:off x="14792325" y="5408414"/>
            <a:ext cx="2189798"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80" dirty="0">
                <a:solidFill>
                  <a:srgbClr val="8C98A8"/>
                </a:solidFill>
                <a:latin typeface="Georgia" pitchFamily="34" charset="0"/>
                <a:ea typeface="Georgia" pitchFamily="34" charset="-122"/>
                <a:cs typeface="Georgia" pitchFamily="34" charset="-120"/>
              </a:rPr>
              <a:t>PHASE 4</a:t>
            </a:r>
            <a:endParaRPr lang="en-US" sz="1800" dirty="0"/>
          </a:p>
        </p:txBody>
      </p:sp>
      <p:sp>
        <p:nvSpPr>
          <p:cNvPr id="29" name="Text 27"/>
          <p:cNvSpPr/>
          <p:nvPr/>
        </p:nvSpPr>
        <p:spPr>
          <a:xfrm>
            <a:off x="14792325" y="5876925"/>
            <a:ext cx="2189798" cy="510480"/>
          </a:xfrm>
          <a:prstGeom prst="rect">
            <a:avLst/>
          </a:prstGeom>
          <a:noFill/>
          <a:ln/>
        </p:spPr>
        <p:txBody>
          <a:bodyPr wrap="square" lIns="25400" tIns="25400" rIns="25400" bIns="25400" rtlCol="0" anchor="t">
            <a:normAutofit/>
          </a:bodyPr>
          <a:lstStyle/>
          <a:p>
            <a:pPr marL="0" indent="0" algn="l">
              <a:lnSpc>
                <a:spcPct val="137778"/>
              </a:lnSpc>
              <a:buNone/>
            </a:pPr>
            <a:r>
              <a:rPr lang="en-US" sz="2400" dirty="0">
                <a:solidFill>
                  <a:srgbClr val="F2EDE4"/>
                </a:solidFill>
                <a:latin typeface="Georgia" pitchFamily="34" charset="0"/>
                <a:ea typeface="Georgia" pitchFamily="34" charset="-122"/>
                <a:cs typeface="Georgia" pitchFamily="34" charset="-120"/>
              </a:rPr>
              <a:t>Extension</a:t>
            </a:r>
            <a:endParaRPr lang="en-US" sz="2400" dirty="0"/>
          </a:p>
        </p:txBody>
      </p:sp>
      <p:sp>
        <p:nvSpPr>
          <p:cNvPr id="30" name="Text 28"/>
          <p:cNvSpPr/>
          <p:nvPr/>
        </p:nvSpPr>
        <p:spPr>
          <a:xfrm>
            <a:off x="14792325" y="6425505"/>
            <a:ext cx="2189798" cy="421928"/>
          </a:xfrm>
          <a:prstGeom prst="rect">
            <a:avLst/>
          </a:prstGeom>
          <a:noFill/>
          <a:ln/>
        </p:spPr>
        <p:txBody>
          <a:bodyPr wrap="square" lIns="25400" tIns="25400" rIns="25400" bIns="25400" rtlCol="0" anchor="t">
            <a:normAutofit/>
          </a:bodyPr>
          <a:lstStyle/>
          <a:p>
            <a:pPr marL="0" indent="0" algn="l">
              <a:lnSpc>
                <a:spcPct val="134333"/>
              </a:lnSpc>
              <a:buNone/>
            </a:pPr>
            <a:r>
              <a:rPr lang="en-US" sz="1950" dirty="0">
                <a:solidFill>
                  <a:srgbClr val="8C98A8"/>
                </a:solidFill>
                <a:latin typeface="Georgia" pitchFamily="34" charset="0"/>
                <a:ea typeface="Georgia" pitchFamily="34" charset="-122"/>
                <a:cs typeface="Georgia" pitchFamily="34" charset="-120"/>
              </a:rPr>
              <a:t>Year 2</a:t>
            </a:r>
            <a:endParaRPr lang="en-US" sz="1950" dirty="0"/>
          </a:p>
        </p:txBody>
      </p:sp>
      <p:sp>
        <p:nvSpPr>
          <p:cNvPr id="31" name="Text 29"/>
          <p:cNvSpPr/>
          <p:nvPr/>
        </p:nvSpPr>
        <p:spPr>
          <a:xfrm>
            <a:off x="1238250" y="7590383"/>
            <a:ext cx="17392650" cy="451396"/>
          </a:xfrm>
          <a:prstGeom prst="rect">
            <a:avLst/>
          </a:prstGeom>
          <a:noFill/>
          <a:ln/>
        </p:spPr>
        <p:txBody>
          <a:bodyPr wrap="square" lIns="25400" tIns="25400" rIns="25400" bIns="25400" rtlCol="0" anchor="t">
            <a:normAutofit/>
          </a:bodyPr>
          <a:lstStyle/>
          <a:p>
            <a:pPr marL="0" indent="0" algn="l">
              <a:lnSpc>
                <a:spcPct val="135625"/>
              </a:lnSpc>
              <a:buNone/>
            </a:pPr>
            <a:r>
              <a:rPr lang="en-US" sz="2100" dirty="0">
                <a:solidFill>
                  <a:srgbClr val="B9B0A2"/>
                </a:solidFill>
                <a:latin typeface="Georgia" pitchFamily="34" charset="0"/>
                <a:ea typeface="Georgia" pitchFamily="34" charset="-122"/>
                <a:cs typeface="Georgia" pitchFamily="34" charset="-120"/>
              </a:rPr>
              <a:t>Intervention budget stays locked until both gates clear.</a:t>
            </a:r>
            <a:endParaRPr lang="en-US" sz="2100" dirty="0"/>
          </a:p>
        </p:txBody>
      </p:sp>
      <p:sp>
        <p:nvSpPr>
          <p:cNvPr id="32" name="Text 30"/>
          <p:cNvSpPr/>
          <p:nvPr/>
        </p:nvSpPr>
        <p:spPr>
          <a:xfrm>
            <a:off x="1238250" y="92469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33" name="Text 31"/>
          <p:cNvSpPr/>
          <p:nvPr/>
        </p:nvSpPr>
        <p:spPr>
          <a:xfrm>
            <a:off x="16794956" y="9246989"/>
            <a:ext cx="33099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295400" y="3163193"/>
            <a:ext cx="15697200" cy="1891010"/>
          </a:xfrm>
          <a:prstGeom prst="rect">
            <a:avLst/>
          </a:prstGeom>
          <a:noFill/>
          <a:ln/>
        </p:spPr>
        <p:txBody>
          <a:bodyPr wrap="square" lIns="25400" tIns="25400" rIns="25400" bIns="25400" rtlCol="0" anchor="t">
            <a:normAutofit lnSpcReduction="10000"/>
          </a:bodyPr>
          <a:lstStyle/>
          <a:p>
            <a:pPr marL="0" indent="0" algn="ctr">
              <a:lnSpc>
                <a:spcPct val="111816"/>
              </a:lnSpc>
              <a:buNone/>
            </a:pPr>
            <a:r>
              <a:rPr lang="en-US" sz="5700" kern="0" spc="-85" dirty="0">
                <a:solidFill>
                  <a:srgbClr val="F2EDE4"/>
                </a:solidFill>
                <a:latin typeface="Georgia" pitchFamily="34" charset="0"/>
                <a:ea typeface="Georgia" pitchFamily="34" charset="-122"/>
                <a:cs typeface="Georgia" pitchFamily="34" charset="-120"/>
              </a:rPr>
              <a:t>Not a forecast. A cheap, gated, measurable experiment — against an eight-figure liability.</a:t>
            </a:r>
            <a:endParaRPr lang="en-US" sz="5700" dirty="0"/>
          </a:p>
        </p:txBody>
      </p:sp>
      <p:sp>
        <p:nvSpPr>
          <p:cNvPr id="3" name="Text 1"/>
          <p:cNvSpPr/>
          <p:nvPr/>
        </p:nvSpPr>
        <p:spPr>
          <a:xfrm>
            <a:off x="1524000" y="92469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4" name="Text 2"/>
          <p:cNvSpPr/>
          <p:nvPr/>
        </p:nvSpPr>
        <p:spPr>
          <a:xfrm>
            <a:off x="16509206" y="9246989"/>
            <a:ext cx="33099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01722"/>
        </a:solidFill>
        <a:effectLst/>
      </p:bgPr>
    </p:bg>
    <p:spTree>
      <p:nvGrpSpPr>
        <p:cNvPr id="1" name=""/>
        <p:cNvGrpSpPr/>
        <p:nvPr/>
      </p:nvGrpSpPr>
      <p:grpSpPr>
        <a:xfrm>
          <a:off x="0" y="0"/>
          <a:ext cx="0" cy="0"/>
          <a:chOff x="0" y="0"/>
          <a:chExt cx="0" cy="0"/>
        </a:xfrm>
      </p:grpSpPr>
      <p:sp>
        <p:nvSpPr>
          <p:cNvPr id="2" name="Text 0"/>
          <p:cNvSpPr/>
          <p:nvPr/>
        </p:nvSpPr>
        <p:spPr>
          <a:xfrm>
            <a:off x="1143000" y="533400"/>
            <a:ext cx="17602200" cy="624780"/>
          </a:xfrm>
          <a:prstGeom prst="rect">
            <a:avLst/>
          </a:prstGeom>
          <a:noFill/>
          <a:ln/>
        </p:spPr>
        <p:txBody>
          <a:bodyPr wrap="square" lIns="25400" tIns="25400" rIns="25400" bIns="25400" rtlCol="0" anchor="t">
            <a:normAutofit lnSpcReduction="10000"/>
          </a:bodyPr>
          <a:lstStyle/>
          <a:p>
            <a:pPr marL="0" indent="0" algn="l">
              <a:lnSpc>
                <a:spcPct val="97778"/>
              </a:lnSpc>
              <a:buNone/>
            </a:pPr>
            <a:r>
              <a:rPr lang="en-US" sz="4200" kern="0" spc="-63" dirty="0">
                <a:solidFill>
                  <a:srgbClr val="F2EDE4"/>
                </a:solidFill>
                <a:latin typeface="Georgia" pitchFamily="34" charset="0"/>
                <a:ea typeface="Georgia" pitchFamily="34" charset="-122"/>
                <a:cs typeface="Georgia" pitchFamily="34" charset="-120"/>
              </a:rPr>
              <a:t>Sources</a:t>
            </a:r>
            <a:endParaRPr lang="en-US" sz="4200" dirty="0"/>
          </a:p>
        </p:txBody>
      </p:sp>
      <p:sp>
        <p:nvSpPr>
          <p:cNvPr id="3" name="Text 1"/>
          <p:cNvSpPr/>
          <p:nvPr/>
        </p:nvSpPr>
        <p:spPr>
          <a:xfrm>
            <a:off x="1143000" y="1501080"/>
            <a:ext cx="7799546" cy="943124"/>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Bureau of Labor Statistics. 2026. "Industry and Occupational Employment Projections Overview, 2024–34." </a:t>
            </a:r>
            <a:r>
              <a:rPr lang="en-US" sz="1800" i="1" dirty="0">
                <a:solidFill>
                  <a:srgbClr val="B9B0A2"/>
                </a:solidFill>
                <a:latin typeface="Georgia" pitchFamily="34" charset="0"/>
                <a:ea typeface="Georgia" pitchFamily="34" charset="-122"/>
                <a:cs typeface="Georgia" pitchFamily="34" charset="-120"/>
              </a:rPr>
              <a:t>Monthly Labor Review </a:t>
            </a:r>
            <a:r>
              <a:rPr lang="en-US" sz="1800" dirty="0">
                <a:solidFill>
                  <a:srgbClr val="B9B0A2"/>
                </a:solidFill>
                <a:latin typeface="Georgia" pitchFamily="34" charset="0"/>
                <a:ea typeface="Georgia" pitchFamily="34" charset="-122"/>
                <a:cs typeface="Georgia" pitchFamily="34" charset="-120"/>
              </a:rPr>
              <a:t>. Washington, DC: U.S. Department of Labor.</a:t>
            </a:r>
            <a:endParaRPr lang="en-US" sz="1800" dirty="0"/>
          </a:p>
        </p:txBody>
      </p:sp>
      <p:sp>
        <p:nvSpPr>
          <p:cNvPr id="4" name="Text 2"/>
          <p:cNvSpPr/>
          <p:nvPr/>
        </p:nvSpPr>
        <p:spPr>
          <a:xfrm>
            <a:off x="9572625" y="1501080"/>
            <a:ext cx="7799546" cy="943124"/>
          </a:xfrm>
          <a:prstGeom prst="rect">
            <a:avLst/>
          </a:prstGeom>
          <a:noFill/>
          <a:ln/>
        </p:spPr>
        <p:txBody>
          <a:bodyPr wrap="square" lIns="25400" tIns="25400" rIns="25400" bIns="25400" rtlCol="0" anchor="t">
            <a:normAutofit/>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LinkedIn Talent Solutions. 2018. "LinkedIn Data Analysis Reveals the Latest Talent Turnover Trends." LinkedIn Newsroom, March 15.</a:t>
            </a:r>
            <a:endParaRPr lang="en-US" sz="1800" dirty="0"/>
          </a:p>
        </p:txBody>
      </p:sp>
      <p:sp>
        <p:nvSpPr>
          <p:cNvPr id="5" name="Text 3"/>
          <p:cNvSpPr/>
          <p:nvPr/>
        </p:nvSpPr>
        <p:spPr>
          <a:xfrm>
            <a:off x="1143000" y="2634704"/>
            <a:ext cx="7799546" cy="943124"/>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Bureau of Labor Statistics. 2025. </a:t>
            </a:r>
            <a:r>
              <a:rPr lang="en-US" sz="1800" i="1" dirty="0">
                <a:solidFill>
                  <a:srgbClr val="B9B0A2"/>
                </a:solidFill>
                <a:latin typeface="Georgia" pitchFamily="34" charset="0"/>
                <a:ea typeface="Georgia" pitchFamily="34" charset="-122"/>
                <a:cs typeface="Georgia" pitchFamily="34" charset="-120"/>
              </a:rPr>
              <a:t>Occupational Outlook Handbook: Software Developers, Quality Assurance Analysts, and Testers </a:t>
            </a:r>
            <a:r>
              <a:rPr lang="en-US" sz="1800" dirty="0">
                <a:solidFill>
                  <a:srgbClr val="B9B0A2"/>
                </a:solidFill>
                <a:latin typeface="Georgia" pitchFamily="34" charset="0"/>
                <a:ea typeface="Georgia" pitchFamily="34" charset="-122"/>
                <a:cs typeface="Georgia" pitchFamily="34" charset="-120"/>
              </a:rPr>
              <a:t>. Washington, DC: U.S. Department of Labor.</a:t>
            </a:r>
            <a:endParaRPr lang="en-US" sz="1800" dirty="0"/>
          </a:p>
        </p:txBody>
      </p:sp>
      <p:sp>
        <p:nvSpPr>
          <p:cNvPr id="6" name="Text 4"/>
          <p:cNvSpPr/>
          <p:nvPr/>
        </p:nvSpPr>
        <p:spPr>
          <a:xfrm>
            <a:off x="9572625" y="2634704"/>
            <a:ext cx="7799546" cy="943124"/>
          </a:xfrm>
          <a:prstGeom prst="rect">
            <a:avLst/>
          </a:prstGeom>
          <a:noFill/>
          <a:ln/>
        </p:spPr>
        <p:txBody>
          <a:bodyPr wrap="square" lIns="25400" tIns="25400" rIns="25400" bIns="25400" rtlCol="0" anchor="t">
            <a:normAutofit/>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ManpowerGroup. 2026. "Global Talent Shortage Reaches Turning Point as AI Skills Claim Top Spot." 2026 Talent Shortage Survey.</a:t>
            </a:r>
            <a:endParaRPr lang="en-US" sz="1800" dirty="0"/>
          </a:p>
        </p:txBody>
      </p:sp>
      <p:sp>
        <p:nvSpPr>
          <p:cNvPr id="7" name="Text 5"/>
          <p:cNvSpPr/>
          <p:nvPr/>
        </p:nvSpPr>
        <p:spPr>
          <a:xfrm>
            <a:off x="1143000" y="3768328"/>
            <a:ext cx="7799546" cy="641449"/>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Chartered Institute of Personnel and Development. n.d. </a:t>
            </a:r>
            <a:r>
              <a:rPr lang="en-US" sz="1800" i="1" dirty="0">
                <a:solidFill>
                  <a:srgbClr val="B9B0A2"/>
                </a:solidFill>
                <a:latin typeface="Georgia" pitchFamily="34" charset="0"/>
                <a:ea typeface="Georgia" pitchFamily="34" charset="-122"/>
                <a:cs typeface="Georgia" pitchFamily="34" charset="-120"/>
              </a:rPr>
              <a:t>Resourcing and Talent Planning </a:t>
            </a:r>
            <a:r>
              <a:rPr lang="en-US" sz="1800" dirty="0">
                <a:solidFill>
                  <a:srgbClr val="B9B0A2"/>
                </a:solidFill>
                <a:latin typeface="Georgia" pitchFamily="34" charset="0"/>
                <a:ea typeface="Georgia" pitchFamily="34" charset="-122"/>
                <a:cs typeface="Georgia" pitchFamily="34" charset="-120"/>
              </a:rPr>
              <a:t>. London: CIPD.</a:t>
            </a:r>
            <a:endParaRPr lang="en-US" sz="1800" dirty="0"/>
          </a:p>
        </p:txBody>
      </p:sp>
      <p:sp>
        <p:nvSpPr>
          <p:cNvPr id="8" name="Text 6"/>
          <p:cNvSpPr/>
          <p:nvPr/>
        </p:nvSpPr>
        <p:spPr>
          <a:xfrm>
            <a:off x="9572625" y="3768328"/>
            <a:ext cx="7799546" cy="641449"/>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Payscale. n.d. "Employee Retention: What Employee Turnover Really Costs Your Company."</a:t>
            </a:r>
            <a:endParaRPr lang="en-US" sz="1800" dirty="0"/>
          </a:p>
        </p:txBody>
      </p:sp>
      <p:sp>
        <p:nvSpPr>
          <p:cNvPr id="9" name="Text 7"/>
          <p:cNvSpPr/>
          <p:nvPr/>
        </p:nvSpPr>
        <p:spPr>
          <a:xfrm>
            <a:off x="1143000" y="4600277"/>
            <a:ext cx="7799546" cy="641449"/>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Gallup. 2019. "This Fixable Problem Costs U.S. Businesses $1 Trillion." Gallup Workplace.</a:t>
            </a:r>
            <a:endParaRPr lang="en-US" sz="1800" dirty="0"/>
          </a:p>
        </p:txBody>
      </p:sp>
      <p:sp>
        <p:nvSpPr>
          <p:cNvPr id="10" name="Text 8"/>
          <p:cNvSpPr/>
          <p:nvPr/>
        </p:nvSpPr>
        <p:spPr>
          <a:xfrm>
            <a:off x="9572625" y="4600277"/>
            <a:ext cx="7799546" cy="641449"/>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Pedregosa, Fabian, et al. 2011. "Scikit-learn: Machine Learning in Python." </a:t>
            </a:r>
            <a:r>
              <a:rPr lang="en-US" sz="1800" i="1" dirty="0">
                <a:solidFill>
                  <a:srgbClr val="B9B0A2"/>
                </a:solidFill>
                <a:latin typeface="Georgia" pitchFamily="34" charset="0"/>
                <a:ea typeface="Georgia" pitchFamily="34" charset="-122"/>
                <a:cs typeface="Georgia" pitchFamily="34" charset="-120"/>
              </a:rPr>
              <a:t>Journal of Machine Learning Research </a:t>
            </a:r>
            <a:r>
              <a:rPr lang="en-US" sz="1800" dirty="0">
                <a:solidFill>
                  <a:srgbClr val="B9B0A2"/>
                </a:solidFill>
                <a:latin typeface="Georgia" pitchFamily="34" charset="0"/>
                <a:ea typeface="Georgia" pitchFamily="34" charset="-122"/>
                <a:cs typeface="Georgia" pitchFamily="34" charset="-120"/>
              </a:rPr>
              <a:t>12: 2825–2830.</a:t>
            </a:r>
            <a:endParaRPr lang="en-US" sz="1800" dirty="0"/>
          </a:p>
        </p:txBody>
      </p:sp>
      <p:sp>
        <p:nvSpPr>
          <p:cNvPr id="11" name="Text 9"/>
          <p:cNvSpPr/>
          <p:nvPr/>
        </p:nvSpPr>
        <p:spPr>
          <a:xfrm>
            <a:off x="1143000" y="5432227"/>
            <a:ext cx="7799546" cy="641449"/>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IBM. n.d. "IBM HR Analytics Employee Attrition &amp; Performance." Dataset. Kaggle.</a:t>
            </a:r>
            <a:endParaRPr lang="en-US" sz="1800" dirty="0"/>
          </a:p>
        </p:txBody>
      </p:sp>
      <p:sp>
        <p:nvSpPr>
          <p:cNvPr id="12" name="Text 10"/>
          <p:cNvSpPr/>
          <p:nvPr/>
        </p:nvSpPr>
        <p:spPr>
          <a:xfrm>
            <a:off x="9572625" y="5432227"/>
            <a:ext cx="7799546" cy="641449"/>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Robert Half. 2026. </a:t>
            </a:r>
            <a:r>
              <a:rPr lang="en-US" sz="1800" i="1" dirty="0">
                <a:solidFill>
                  <a:srgbClr val="B9B0A2"/>
                </a:solidFill>
                <a:latin typeface="Georgia" pitchFamily="34" charset="0"/>
                <a:ea typeface="Georgia" pitchFamily="34" charset="-122"/>
                <a:cs typeface="Georgia" pitchFamily="34" charset="-120"/>
              </a:rPr>
              <a:t>2026 Salary Guide </a:t>
            </a:r>
            <a:r>
              <a:rPr lang="en-US" sz="1800" dirty="0">
                <a:solidFill>
                  <a:srgbClr val="B9B0A2"/>
                </a:solidFill>
                <a:latin typeface="Georgia" pitchFamily="34" charset="0"/>
                <a:ea typeface="Georgia" pitchFamily="34" charset="-122"/>
                <a:cs typeface="Georgia" pitchFamily="34" charset="-120"/>
              </a:rPr>
              <a:t>. Menlo Park, CA: Robert Half International.</a:t>
            </a:r>
            <a:endParaRPr lang="en-US" sz="1800" dirty="0"/>
          </a:p>
        </p:txBody>
      </p:sp>
      <p:sp>
        <p:nvSpPr>
          <p:cNvPr id="13" name="Text 11"/>
          <p:cNvSpPr/>
          <p:nvPr/>
        </p:nvSpPr>
        <p:spPr>
          <a:xfrm>
            <a:off x="1143000" y="6264176"/>
            <a:ext cx="7799546" cy="943124"/>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Society for Human Resource Management. 2025. "The Myth of Replaceability: Preparing for the Loss of Key Employees." SHRM Executive Network.</a:t>
            </a:r>
            <a:endParaRPr lang="en-US" sz="1800" dirty="0"/>
          </a:p>
        </p:txBody>
      </p:sp>
      <p:sp>
        <p:nvSpPr>
          <p:cNvPr id="14" name="Text 12"/>
          <p:cNvSpPr/>
          <p:nvPr/>
        </p:nvSpPr>
        <p:spPr>
          <a:xfrm>
            <a:off x="9572625" y="6264176"/>
            <a:ext cx="7799546" cy="943124"/>
          </a:xfrm>
          <a:prstGeom prst="rect">
            <a:avLst/>
          </a:prstGeom>
          <a:noFill/>
          <a:ln/>
        </p:spPr>
        <p:txBody>
          <a:bodyPr wrap="square" lIns="25400" tIns="25400" rIns="25400" bIns="25400" rtlCol="0" anchor="t">
            <a:normAutofit lnSpcReduction="10000"/>
          </a:bodyPr>
          <a:lstStyle/>
          <a:p>
            <a:pPr marL="0" indent="0" algn="l">
              <a:lnSpc>
                <a:spcPct val="117333"/>
              </a:lnSpc>
              <a:buNone/>
            </a:pPr>
            <a:r>
              <a:rPr lang="en-US" sz="1800" dirty="0">
                <a:solidFill>
                  <a:srgbClr val="B9B0A2"/>
                </a:solidFill>
                <a:latin typeface="Georgia" pitchFamily="34" charset="0"/>
                <a:ea typeface="Georgia" pitchFamily="34" charset="-122"/>
                <a:cs typeface="Georgia" pitchFamily="34" charset="-120"/>
              </a:rPr>
              <a:t>Wilson, Edwin B. 1927. "Probable Inference, the Law of Succession, and Statistical Inference." </a:t>
            </a:r>
            <a:r>
              <a:rPr lang="en-US" sz="1800" i="1" dirty="0">
                <a:solidFill>
                  <a:srgbClr val="B9B0A2"/>
                </a:solidFill>
                <a:latin typeface="Georgia" pitchFamily="34" charset="0"/>
                <a:ea typeface="Georgia" pitchFamily="34" charset="-122"/>
                <a:cs typeface="Georgia" pitchFamily="34" charset="-120"/>
              </a:rPr>
              <a:t>Journal of the American Statistical Association </a:t>
            </a:r>
            <a:r>
              <a:rPr lang="en-US" sz="1800" dirty="0">
                <a:solidFill>
                  <a:srgbClr val="B9B0A2"/>
                </a:solidFill>
                <a:latin typeface="Georgia" pitchFamily="34" charset="0"/>
                <a:ea typeface="Georgia" pitchFamily="34" charset="-122"/>
                <a:cs typeface="Georgia" pitchFamily="34" charset="-120"/>
              </a:rPr>
              <a:t>22 (158): 209–212.</a:t>
            </a:r>
            <a:endParaRPr lang="en-US" sz="1800" dirty="0"/>
          </a:p>
        </p:txBody>
      </p:sp>
      <p:sp>
        <p:nvSpPr>
          <p:cNvPr id="15" name="Text 13"/>
          <p:cNvSpPr/>
          <p:nvPr/>
        </p:nvSpPr>
        <p:spPr>
          <a:xfrm>
            <a:off x="1143000" y="7626400"/>
            <a:ext cx="1760220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dirty="0">
                <a:solidFill>
                  <a:srgbClr val="8C98A8"/>
                </a:solidFill>
                <a:latin typeface="Georgia" pitchFamily="34" charset="0"/>
                <a:ea typeface="Georgia" pitchFamily="34" charset="-122"/>
                <a:cs typeface="Georgia" pitchFamily="34" charset="-120"/>
              </a:rPr>
              <a:t>Analysis conducted in Python (pandas, scikit-learn, seaborn). LLM assistance cited per Quantic conventions.</a:t>
            </a:r>
            <a:endParaRPr lang="en-US" sz="1800" dirty="0"/>
          </a:p>
        </p:txBody>
      </p:sp>
      <p:sp>
        <p:nvSpPr>
          <p:cNvPr id="16" name="Text 14"/>
          <p:cNvSpPr/>
          <p:nvPr/>
        </p:nvSpPr>
        <p:spPr>
          <a:xfrm>
            <a:off x="1143000" y="8094911"/>
            <a:ext cx="17602200"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dirty="0">
                <a:solidFill>
                  <a:srgbClr val="8C98A8"/>
                </a:solidFill>
                <a:latin typeface="Georgia" pitchFamily="34" charset="0"/>
                <a:ea typeface="Georgia" pitchFamily="34" charset="-122"/>
                <a:cs typeface="Georgia" pitchFamily="34" charset="-120"/>
              </a:rPr>
              <a:t>All charts are the author's own analysis of the IBM HR Analytics dataset.</a:t>
            </a:r>
            <a:endParaRPr lang="en-US" sz="1800" dirty="0"/>
          </a:p>
        </p:txBody>
      </p:sp>
      <p:sp>
        <p:nvSpPr>
          <p:cNvPr id="17" name="Text 15"/>
          <p:cNvSpPr/>
          <p:nvPr/>
        </p:nvSpPr>
        <p:spPr>
          <a:xfrm>
            <a:off x="1143000" y="9399389"/>
            <a:ext cx="430543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The Employee Retention Predictor</a:t>
            </a:r>
            <a:endParaRPr lang="en-US" sz="1800" dirty="0"/>
          </a:p>
        </p:txBody>
      </p:sp>
      <p:sp>
        <p:nvSpPr>
          <p:cNvPr id="18" name="Text 16"/>
          <p:cNvSpPr/>
          <p:nvPr/>
        </p:nvSpPr>
        <p:spPr>
          <a:xfrm>
            <a:off x="16890206" y="9399389"/>
            <a:ext cx="330994" cy="392311"/>
          </a:xfrm>
          <a:prstGeom prst="rect">
            <a:avLst/>
          </a:prstGeom>
          <a:noFill/>
          <a:ln/>
        </p:spPr>
        <p:txBody>
          <a:bodyPr wrap="square" lIns="25400" tIns="25400" rIns="25400" bIns="25400" rtlCol="0" anchor="t">
            <a:normAutofit lnSpcReduction="10000"/>
          </a:bodyPr>
          <a:lstStyle/>
          <a:p>
            <a:pPr marL="0" indent="0" algn="l">
              <a:lnSpc>
                <a:spcPct val="137778"/>
              </a:lnSpc>
              <a:buNone/>
            </a:pPr>
            <a:r>
              <a:rPr lang="en-US" sz="1800" kern="0" spc="108" dirty="0">
                <a:solidFill>
                  <a:srgbClr val="66717F"/>
                </a:solidFill>
                <a:latin typeface="Georgia" pitchFamily="34" charset="0"/>
                <a:ea typeface="Georgia" pitchFamily="34" charset="-122"/>
                <a:cs typeface="Georgia" pitchFamily="34" charset="-120"/>
              </a:rPr>
              <a:t>14</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260</TotalTime>
  <Words>1799</Words>
  <Application>Microsoft Office PowerPoint</Application>
  <PresentationFormat>Custom</PresentationFormat>
  <Paragraphs>222</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Wouter Roos</cp:lastModifiedBy>
  <cp:revision>4</cp:revision>
  <dcterms:created xsi:type="dcterms:W3CDTF">2026-09-11T12:11:25Z</dcterms:created>
  <dcterms:modified xsi:type="dcterms:W3CDTF">2026-09-11T19:40:10Z</dcterms:modified>
</cp:coreProperties>
</file>
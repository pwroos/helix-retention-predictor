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33" d="100"/>
          <a:sy n="33" d="100"/>
        </p:scale>
        <p:origin x="2934" y="14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outer Roos" userId="239c5a57-57c8-499d-8a57-5e4ac9b5fba6" providerId="ADAL" clId="{192D8F60-AF15-4EDB-814F-22369D656A18}"/>
    <pc:docChg chg="undo custSel modSld">
      <pc:chgData name="Wouter Roos" userId="239c5a57-57c8-499d-8a57-5e4ac9b5fba6" providerId="ADAL" clId="{192D8F60-AF15-4EDB-814F-22369D656A18}" dt="2026-09-11T13:32:25.786" v="46" actId="478"/>
      <pc:docMkLst>
        <pc:docMk/>
      </pc:docMkLst>
      <pc:sldChg chg="addSp delSp modSp mod">
        <pc:chgData name="Wouter Roos" userId="239c5a57-57c8-499d-8a57-5e4ac9b5fba6" providerId="ADAL" clId="{192D8F60-AF15-4EDB-814F-22369D656A18}" dt="2026-09-11T13:32:21.337" v="45" actId="22"/>
        <pc:sldMkLst>
          <pc:docMk/>
          <pc:sldMk cId="0" sldId="256"/>
        </pc:sldMkLst>
        <pc:spChg chg="mod">
          <ac:chgData name="Wouter Roos" userId="239c5a57-57c8-499d-8a57-5e4ac9b5fba6" providerId="ADAL" clId="{192D8F60-AF15-4EDB-814F-22369D656A18}" dt="2026-09-11T13:32:16.747" v="35" actId="1076"/>
          <ac:spMkLst>
            <pc:docMk/>
            <pc:sldMk cId="0" sldId="256"/>
            <ac:spMk id="2" creationId="{00000000-0000-0000-0000-000000000000}"/>
          </ac:spMkLst>
        </pc:spChg>
        <pc:spChg chg="mod">
          <ac:chgData name="Wouter Roos" userId="239c5a57-57c8-499d-8a57-5e4ac9b5fba6" providerId="ADAL" clId="{192D8F60-AF15-4EDB-814F-22369D656A18}" dt="2026-09-11T13:32:14.185" v="26" actId="1076"/>
          <ac:spMkLst>
            <pc:docMk/>
            <pc:sldMk cId="0" sldId="256"/>
            <ac:spMk id="3" creationId="{00000000-0000-0000-0000-000000000000}"/>
          </ac:spMkLst>
        </pc:spChg>
        <pc:spChg chg="mod">
          <ac:chgData name="Wouter Roos" userId="239c5a57-57c8-499d-8a57-5e4ac9b5fba6" providerId="ADAL" clId="{192D8F60-AF15-4EDB-814F-22369D656A18}" dt="2026-09-11T13:32:14.447" v="27" actId="1076"/>
          <ac:spMkLst>
            <pc:docMk/>
            <pc:sldMk cId="0" sldId="256"/>
            <ac:spMk id="4" creationId="{00000000-0000-0000-0000-000000000000}"/>
          </ac:spMkLst>
        </pc:spChg>
        <pc:spChg chg="mod">
          <ac:chgData name="Wouter Roos" userId="239c5a57-57c8-499d-8a57-5e4ac9b5fba6" providerId="ADAL" clId="{192D8F60-AF15-4EDB-814F-22369D656A18}" dt="2026-09-11T13:32:14.185" v="26" actId="1076"/>
          <ac:spMkLst>
            <pc:docMk/>
            <pc:sldMk cId="0" sldId="256"/>
            <ac:spMk id="5" creationId="{00000000-0000-0000-0000-000000000000}"/>
          </ac:spMkLst>
        </pc:spChg>
        <pc:spChg chg="mod">
          <ac:chgData name="Wouter Roos" userId="239c5a57-57c8-499d-8a57-5e4ac9b5fba6" providerId="ADAL" clId="{192D8F60-AF15-4EDB-814F-22369D656A18}" dt="2026-09-11T13:32:14.447" v="27" actId="1076"/>
          <ac:spMkLst>
            <pc:docMk/>
            <pc:sldMk cId="0" sldId="256"/>
            <ac:spMk id="6" creationId="{00000000-0000-0000-0000-000000000000}"/>
          </ac:spMkLst>
        </pc:spChg>
        <pc:spChg chg="mod">
          <ac:chgData name="Wouter Roos" userId="239c5a57-57c8-499d-8a57-5e4ac9b5fba6" providerId="ADAL" clId="{192D8F60-AF15-4EDB-814F-22369D656A18}" dt="2026-09-11T13:32:14.185" v="26" actId="1076"/>
          <ac:spMkLst>
            <pc:docMk/>
            <pc:sldMk cId="0" sldId="256"/>
            <ac:spMk id="7" creationId="{00000000-0000-0000-0000-000000000000}"/>
          </ac:spMkLst>
        </pc:spChg>
        <pc:spChg chg="mod">
          <ac:chgData name="Wouter Roos" userId="239c5a57-57c8-499d-8a57-5e4ac9b5fba6" providerId="ADAL" clId="{192D8F60-AF15-4EDB-814F-22369D656A18}" dt="2026-09-11T13:32:14.447" v="27" actId="1076"/>
          <ac:spMkLst>
            <pc:docMk/>
            <pc:sldMk cId="0" sldId="256"/>
            <ac:spMk id="8" creationId="{00000000-0000-0000-0000-000000000000}"/>
          </ac:spMkLst>
        </pc:spChg>
        <pc:picChg chg="add del mod">
          <ac:chgData name="Wouter Roos" userId="239c5a57-57c8-499d-8a57-5e4ac9b5fba6" providerId="ADAL" clId="{192D8F60-AF15-4EDB-814F-22369D656A18}" dt="2026-09-11T13:29:22.039" v="3" actId="21"/>
          <ac:picMkLst>
            <pc:docMk/>
            <pc:sldMk cId="0" sldId="256"/>
            <ac:picMk id="12" creationId="{D974FA64-7E07-1FCD-84CD-7C81F56925F1}"/>
          </ac:picMkLst>
        </pc:picChg>
        <pc:picChg chg="add del mod">
          <ac:chgData name="Wouter Roos" userId="239c5a57-57c8-499d-8a57-5e4ac9b5fba6" providerId="ADAL" clId="{192D8F60-AF15-4EDB-814F-22369D656A18}" dt="2026-09-11T13:32:21.337" v="45" actId="22"/>
          <ac:picMkLst>
            <pc:docMk/>
            <pc:sldMk cId="0" sldId="256"/>
            <ac:picMk id="14" creationId="{92A52F8F-6D82-133E-F657-B5228A8400FF}"/>
          </ac:picMkLst>
        </pc:picChg>
        <pc:picChg chg="add del mod">
          <ac:chgData name="Wouter Roos" userId="239c5a57-57c8-499d-8a57-5e4ac9b5fba6" providerId="ADAL" clId="{192D8F60-AF15-4EDB-814F-22369D656A18}" dt="2026-09-11T13:32:16.433" v="34" actId="22"/>
          <ac:picMkLst>
            <pc:docMk/>
            <pc:sldMk cId="0" sldId="256"/>
            <ac:picMk id="16" creationId="{C5BAEB86-FD5D-417A-10DC-76B30B89A1BC}"/>
          </ac:picMkLst>
        </pc:picChg>
      </pc:sldChg>
      <pc:sldChg chg="addSp delSp modSp mod">
        <pc:chgData name="Wouter Roos" userId="239c5a57-57c8-499d-8a57-5e4ac9b5fba6" providerId="ADAL" clId="{192D8F60-AF15-4EDB-814F-22369D656A18}" dt="2026-09-11T13:32:25.786" v="46" actId="478"/>
        <pc:sldMkLst>
          <pc:docMk/>
          <pc:sldMk cId="0" sldId="257"/>
        </pc:sldMkLst>
        <pc:picChg chg="add del mod">
          <ac:chgData name="Wouter Roos" userId="239c5a57-57c8-499d-8a57-5e4ac9b5fba6" providerId="ADAL" clId="{192D8F60-AF15-4EDB-814F-22369D656A18}" dt="2026-09-11T13:32:25.786" v="46" actId="478"/>
          <ac:picMkLst>
            <pc:docMk/>
            <pc:sldMk cId="0" sldId="257"/>
            <ac:picMk id="8" creationId="{752AF8C1-4A3C-2644-C25D-4E0AABD1BDF9}"/>
          </ac:picMkLst>
        </pc:picChg>
      </pc:sldChg>
      <pc:sldChg chg="addSp delSp modSp mod">
        <pc:chgData name="Wouter Roos" userId="239c5a57-57c8-499d-8a57-5e4ac9b5fba6" providerId="ADAL" clId="{192D8F60-AF15-4EDB-814F-22369D656A18}" dt="2026-09-11T13:32:20.684" v="43" actId="22"/>
        <pc:sldMkLst>
          <pc:docMk/>
          <pc:sldMk cId="0" sldId="258"/>
        </pc:sldMkLst>
        <pc:picChg chg="add del mod">
          <ac:chgData name="Wouter Roos" userId="239c5a57-57c8-499d-8a57-5e4ac9b5fba6" providerId="ADAL" clId="{192D8F60-AF15-4EDB-814F-22369D656A18}" dt="2026-09-11T13:32:20.684" v="43" actId="22"/>
          <ac:picMkLst>
            <pc:docMk/>
            <pc:sldMk cId="0" sldId="258"/>
            <ac:picMk id="12" creationId="{CA01F8A8-2963-C44C-29D7-0BA3E346FF36}"/>
          </ac:picMkLst>
        </pc:picChg>
      </pc:sldChg>
      <pc:sldChg chg="addSp delSp modSp mod">
        <pc:chgData name="Wouter Roos" userId="239c5a57-57c8-499d-8a57-5e4ac9b5fba6" providerId="ADAL" clId="{192D8F60-AF15-4EDB-814F-22369D656A18}" dt="2026-09-11T13:32:20.029" v="41" actId="22"/>
        <pc:sldMkLst>
          <pc:docMk/>
          <pc:sldMk cId="0" sldId="259"/>
        </pc:sldMkLst>
        <pc:picChg chg="add del mod">
          <ac:chgData name="Wouter Roos" userId="239c5a57-57c8-499d-8a57-5e4ac9b5fba6" providerId="ADAL" clId="{192D8F60-AF15-4EDB-814F-22369D656A18}" dt="2026-09-11T13:32:20.029" v="41" actId="22"/>
          <ac:picMkLst>
            <pc:docMk/>
            <pc:sldMk cId="0" sldId="259"/>
            <ac:picMk id="34" creationId="{A201A770-74CA-AB3D-0EBD-A30BC830FCF6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24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38250" y="1047750"/>
            <a:ext cx="17392650" cy="750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7143"/>
              </a:lnSpc>
              <a:buNone/>
            </a:pPr>
            <a:r>
              <a:rPr lang="en-US" sz="5100" kern="0" spc="-51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&amp; Objective</a:t>
            </a:r>
            <a:endParaRPr lang="en-US" sz="5100" dirty="0"/>
          </a:p>
        </p:txBody>
      </p:sp>
      <p:sp>
        <p:nvSpPr>
          <p:cNvPr id="3" name="Text 1"/>
          <p:cNvSpPr/>
          <p:nvPr/>
        </p:nvSpPr>
        <p:spPr>
          <a:xfrm>
            <a:off x="1238250" y="4846886"/>
            <a:ext cx="24098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252" dirty="0">
                <a:solidFill>
                  <a:srgbClr val="7D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AUDIENCE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886200" y="4732586"/>
            <a:ext cx="7588002" cy="5267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9302"/>
              </a:lnSpc>
              <a:buNone/>
            </a:pPr>
            <a:r>
              <a:rPr lang="en-US" sz="2850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committee, Helix Systems Group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1238250" y="5754588"/>
            <a:ext cx="24098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252" dirty="0">
                <a:solidFill>
                  <a:srgbClr val="7D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OCCASION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886200" y="5640288"/>
            <a:ext cx="7176433" cy="5267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9302"/>
              </a:lnSpc>
              <a:buNone/>
            </a:pPr>
            <a:r>
              <a:rPr lang="en-US" sz="2850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Ten-minute investment decision briefing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1238250" y="6662291"/>
            <a:ext cx="24098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252" dirty="0">
                <a:solidFill>
                  <a:srgbClr val="7D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ASK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886200" y="6547991"/>
            <a:ext cx="6610320" cy="5267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9302"/>
              </a:lnSpc>
              <a:buNone/>
            </a:pPr>
            <a:r>
              <a:rPr lang="en-US" sz="2850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$185,000 for a gated proof of concept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1238250" y="9208889"/>
            <a:ext cx="4305434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08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Employee Retention Predictor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794956" y="9208889"/>
            <a:ext cx="330994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08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7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38250" y="2076450"/>
            <a:ext cx="14716125" cy="26027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9760"/>
              </a:lnSpc>
              <a:buNone/>
            </a:pPr>
            <a:r>
              <a:rPr lang="en-US" sz="9900" kern="0" spc="-247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Employee Retention Predictor</a:t>
            </a:r>
            <a:endParaRPr lang="en-US" sz="9900" dirty="0"/>
          </a:p>
        </p:txBody>
      </p:sp>
      <p:sp>
        <p:nvSpPr>
          <p:cNvPr id="3" name="Text 1"/>
          <p:cNvSpPr/>
          <p:nvPr/>
        </p:nvSpPr>
        <p:spPr>
          <a:xfrm>
            <a:off x="1238250" y="5688731"/>
            <a:ext cx="1571625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i="1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Seeing attrition before the resignation letter.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1238250" y="7042099"/>
            <a:ext cx="1571625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kern="0" spc="210" dirty="0">
                <a:solidFill>
                  <a:srgbClr val="7D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PHILIP WOUTER ROOS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238250" y="9208889"/>
            <a:ext cx="4305434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08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Employee Retention Predictor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794956" y="9208889"/>
            <a:ext cx="51425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08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7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38250" y="1428750"/>
            <a:ext cx="17392650" cy="2609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9179"/>
              </a:lnSpc>
              <a:buNone/>
            </a:pPr>
            <a:r>
              <a:rPr lang="en-US" sz="22500" kern="0" spc="-787" dirty="0">
                <a:solidFill>
                  <a:srgbClr val="E9A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$20.4M</a:t>
            </a:r>
            <a:endParaRPr lang="en-US" sz="22500" dirty="0"/>
          </a:p>
        </p:txBody>
      </p:sp>
      <p:sp>
        <p:nvSpPr>
          <p:cNvPr id="3" name="Text 1"/>
          <p:cNvSpPr/>
          <p:nvPr/>
        </p:nvSpPr>
        <p:spPr>
          <a:xfrm>
            <a:off x="1238250" y="4495800"/>
            <a:ext cx="1152525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2400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Annual replacement cost — spent entirely after the decision to leave.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38250" y="5882580"/>
            <a:ext cx="178543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8889"/>
              </a:lnSpc>
              <a:buNone/>
            </a:pPr>
            <a:r>
              <a:rPr lang="en-US" sz="4200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237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1238250" y="6549330"/>
            <a:ext cx="1785431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80" dirty="0">
                <a:solidFill>
                  <a:srgbClr val="7D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DEPARTURES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909120" y="5882580"/>
            <a:ext cx="2171298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8889"/>
              </a:lnSpc>
              <a:buNone/>
            </a:pPr>
            <a:r>
              <a:rPr lang="en-US" sz="4200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16.1%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909120" y="6549330"/>
            <a:ext cx="2171298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80" dirty="0">
                <a:solidFill>
                  <a:srgbClr val="7D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WORKFORCE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38250" y="7436941"/>
            <a:ext cx="1739265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i="1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Assumes a one-year observation window — see slide 10.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38250" y="9208889"/>
            <a:ext cx="4305434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08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Employee Retention Predictor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794956" y="9208889"/>
            <a:ext cx="436976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08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7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38250" y="1666131"/>
            <a:ext cx="17392650" cy="7085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6438"/>
              </a:lnSpc>
              <a:buNone/>
            </a:pPr>
            <a:r>
              <a:rPr lang="en-US" sz="4800" kern="0" spc="-72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Timing, Not Pay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238250" y="3060502"/>
            <a:ext cx="1739265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252" dirty="0">
                <a:solidFill>
                  <a:srgbClr val="7D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238250" y="3662362"/>
            <a:ext cx="2630835" cy="832396"/>
          </a:xfrm>
          <a:prstGeom prst="roundRect">
            <a:avLst>
              <a:gd name="adj" fmla="val 2289"/>
            </a:avLst>
          </a:prstGeom>
          <a:solidFill>
            <a:srgbClr val="18212E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5" name="Text 3"/>
          <p:cNvSpPr/>
          <p:nvPr/>
        </p:nvSpPr>
        <p:spPr>
          <a:xfrm>
            <a:off x="1504950" y="3871913"/>
            <a:ext cx="2176360" cy="451396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Employee decides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078635" y="3886646"/>
            <a:ext cx="32385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333"/>
              </a:lnSpc>
              <a:buNone/>
            </a:pPr>
            <a:r>
              <a:rPr lang="en-US" sz="1950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4535835" y="3662362"/>
            <a:ext cx="2053679" cy="832396"/>
          </a:xfrm>
          <a:prstGeom prst="roundRect">
            <a:avLst>
              <a:gd name="adj" fmla="val 2289"/>
            </a:avLst>
          </a:prstGeom>
          <a:solidFill>
            <a:srgbClr val="18212E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8" name="Text 6"/>
          <p:cNvSpPr/>
          <p:nvPr/>
        </p:nvSpPr>
        <p:spPr>
          <a:xfrm>
            <a:off x="4802535" y="3871913"/>
            <a:ext cx="1596479" cy="451396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Secures offer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6799064" y="3886646"/>
            <a:ext cx="32385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333"/>
              </a:lnSpc>
              <a:buNone/>
            </a:pPr>
            <a:r>
              <a:rPr lang="en-US" sz="1950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7256264" y="3662362"/>
            <a:ext cx="1435447" cy="832396"/>
          </a:xfrm>
          <a:prstGeom prst="roundRect">
            <a:avLst>
              <a:gd name="adj" fmla="val 2289"/>
            </a:avLst>
          </a:prstGeom>
          <a:solidFill>
            <a:srgbClr val="18212E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11" name="Text 9"/>
          <p:cNvSpPr/>
          <p:nvPr/>
        </p:nvSpPr>
        <p:spPr>
          <a:xfrm>
            <a:off x="7522964" y="3871913"/>
            <a:ext cx="978247" cy="451396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Resigns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8901261" y="3886646"/>
            <a:ext cx="32385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333"/>
              </a:lnSpc>
              <a:buNone/>
            </a:pPr>
            <a:r>
              <a:rPr lang="en-US" sz="1950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358461" y="3662362"/>
            <a:ext cx="2393305" cy="832396"/>
          </a:xfrm>
          <a:prstGeom prst="roundRect">
            <a:avLst>
              <a:gd name="adj" fmla="val 2289"/>
            </a:avLst>
          </a:prstGeom>
          <a:solidFill>
            <a:srgbClr val="E9A13B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14" name="Text 12"/>
          <p:cNvSpPr/>
          <p:nvPr/>
        </p:nvSpPr>
        <p:spPr>
          <a:xfrm>
            <a:off x="9522321" y="3871913"/>
            <a:ext cx="1859905" cy="451396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b="1" dirty="0">
                <a:solidFill>
                  <a:srgbClr val="101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HR enters here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1961316" y="3886646"/>
            <a:ext cx="32385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333"/>
              </a:lnSpc>
              <a:buNone/>
            </a:pPr>
            <a:r>
              <a:rPr lang="en-US" sz="1950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2418516" y="3662362"/>
            <a:ext cx="1413272" cy="832396"/>
          </a:xfrm>
          <a:prstGeom prst="roundRect">
            <a:avLst>
              <a:gd name="adj" fmla="val 2289"/>
            </a:avLst>
          </a:prstGeom>
          <a:solidFill>
            <a:srgbClr val="18212E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17" name="Text 15"/>
          <p:cNvSpPr/>
          <p:nvPr/>
        </p:nvSpPr>
        <p:spPr>
          <a:xfrm>
            <a:off x="12685216" y="3871913"/>
            <a:ext cx="956072" cy="451396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Backfill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38250" y="5180558"/>
            <a:ext cx="1739265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252" dirty="0">
                <a:solidFill>
                  <a:srgbClr val="7D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PROPOSED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238250" y="5782419"/>
            <a:ext cx="2066032" cy="832396"/>
          </a:xfrm>
          <a:prstGeom prst="roundRect">
            <a:avLst>
              <a:gd name="adj" fmla="val 2289"/>
            </a:avLst>
          </a:prstGeom>
          <a:solidFill>
            <a:srgbClr val="18212E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20" name="Text 18"/>
          <p:cNvSpPr/>
          <p:nvPr/>
        </p:nvSpPr>
        <p:spPr>
          <a:xfrm>
            <a:off x="1504950" y="5991969"/>
            <a:ext cx="1608832" cy="451396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scores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3513832" y="6006703"/>
            <a:ext cx="32385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333"/>
              </a:lnSpc>
              <a:buNone/>
            </a:pPr>
            <a:r>
              <a:rPr lang="en-US" sz="1950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3971032" y="5782419"/>
            <a:ext cx="1934914" cy="832396"/>
          </a:xfrm>
          <a:prstGeom prst="roundRect">
            <a:avLst>
              <a:gd name="adj" fmla="val 2289"/>
            </a:avLst>
          </a:prstGeom>
          <a:solidFill>
            <a:srgbClr val="18212E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23" name="Text 21"/>
          <p:cNvSpPr/>
          <p:nvPr/>
        </p:nvSpPr>
        <p:spPr>
          <a:xfrm>
            <a:off x="4237732" y="5991969"/>
            <a:ext cx="1477714" cy="451396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 flagged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6115496" y="6006703"/>
            <a:ext cx="32385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333"/>
              </a:lnSpc>
              <a:buNone/>
            </a:pPr>
            <a:r>
              <a:rPr lang="en-US" sz="1950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6572696" y="5782419"/>
            <a:ext cx="2578150" cy="832396"/>
          </a:xfrm>
          <a:prstGeom prst="roundRect">
            <a:avLst>
              <a:gd name="adj" fmla="val 2289"/>
            </a:avLst>
          </a:prstGeom>
          <a:solidFill>
            <a:srgbClr val="E9A13B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26" name="Text 24"/>
          <p:cNvSpPr/>
          <p:nvPr/>
        </p:nvSpPr>
        <p:spPr>
          <a:xfrm>
            <a:off x="6709293" y="6004396"/>
            <a:ext cx="2045894" cy="451396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b="1" dirty="0">
                <a:solidFill>
                  <a:srgbClr val="101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HR conversation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9360396" y="6006703"/>
            <a:ext cx="32385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333"/>
              </a:lnSpc>
              <a:buNone/>
            </a:pPr>
            <a:r>
              <a:rPr lang="en-US" sz="1950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9817596" y="5782419"/>
            <a:ext cx="2630835" cy="832396"/>
          </a:xfrm>
          <a:prstGeom prst="roundRect">
            <a:avLst>
              <a:gd name="adj" fmla="val 2289"/>
            </a:avLst>
          </a:prstGeom>
          <a:solidFill>
            <a:srgbClr val="18212E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29" name="Text 27"/>
          <p:cNvSpPr/>
          <p:nvPr/>
        </p:nvSpPr>
        <p:spPr>
          <a:xfrm>
            <a:off x="10084296" y="5991969"/>
            <a:ext cx="2176360" cy="451396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Employee decides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1238250" y="7338715"/>
            <a:ext cx="17392650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2250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Overtime: 30.5% departure rate against 10.4%.</a:t>
            </a:r>
            <a:endParaRPr lang="en-US" sz="2250" dirty="0"/>
          </a:p>
        </p:txBody>
      </p:sp>
      <p:sp>
        <p:nvSpPr>
          <p:cNvPr id="31" name="Text 29"/>
          <p:cNvSpPr/>
          <p:nvPr/>
        </p:nvSpPr>
        <p:spPr>
          <a:xfrm>
            <a:off x="1238250" y="9208889"/>
            <a:ext cx="4305434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08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Employee Retention Predictor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6794955" y="9224516"/>
            <a:ext cx="746069" cy="3766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08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7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38250" y="1673360"/>
            <a:ext cx="17392650" cy="7085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6438"/>
              </a:lnSpc>
              <a:buNone/>
            </a:pPr>
            <a:r>
              <a:rPr lang="en-US" sz="4800" kern="0" spc="-72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Sensor, Not a Cure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238250" y="3898782"/>
            <a:ext cx="24098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252" dirty="0">
                <a:solidFill>
                  <a:srgbClr val="7D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COMPRESSOR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429000" y="3674051"/>
            <a:ext cx="3019425" cy="803821"/>
          </a:xfrm>
          <a:prstGeom prst="roundRect">
            <a:avLst>
              <a:gd name="adj" fmla="val 2370"/>
            </a:avLst>
          </a:prstGeom>
          <a:solidFill>
            <a:srgbClr val="18212E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5" name="Text 3"/>
          <p:cNvSpPr/>
          <p:nvPr/>
        </p:nvSpPr>
        <p:spPr>
          <a:xfrm>
            <a:off x="3517059" y="3921701"/>
            <a:ext cx="284330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104516"/>
              </a:lnSpc>
              <a:buNone/>
            </a:pPr>
            <a:r>
              <a:rPr lang="en-US" sz="2025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Vibration sensor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6410325" y="3884048"/>
            <a:ext cx="59055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4333"/>
              </a:lnSpc>
              <a:buNone/>
            </a:pPr>
            <a:r>
              <a:rPr lang="en-US" sz="1950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6962775" y="3674051"/>
            <a:ext cx="3019425" cy="803821"/>
          </a:xfrm>
          <a:prstGeom prst="roundRect">
            <a:avLst>
              <a:gd name="adj" fmla="val 2370"/>
            </a:avLst>
          </a:prstGeom>
          <a:solidFill>
            <a:srgbClr val="E9A13B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8" name="Text 6"/>
          <p:cNvSpPr/>
          <p:nvPr/>
        </p:nvSpPr>
        <p:spPr>
          <a:xfrm>
            <a:off x="7050834" y="3921701"/>
            <a:ext cx="284330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104516"/>
              </a:lnSpc>
              <a:buNone/>
            </a:pPr>
            <a:r>
              <a:rPr lang="en-US" sz="2025" b="1" dirty="0">
                <a:solidFill>
                  <a:srgbClr val="101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 time</a:t>
            </a:r>
            <a:endParaRPr lang="en-US" sz="2025" dirty="0"/>
          </a:p>
        </p:txBody>
      </p:sp>
      <p:sp>
        <p:nvSpPr>
          <p:cNvPr id="9" name="Text 7"/>
          <p:cNvSpPr/>
          <p:nvPr/>
        </p:nvSpPr>
        <p:spPr>
          <a:xfrm>
            <a:off x="9944100" y="3884048"/>
            <a:ext cx="59055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4333"/>
              </a:lnSpc>
              <a:buNone/>
            </a:pPr>
            <a:r>
              <a:rPr lang="en-US" sz="1950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0496550" y="3674051"/>
            <a:ext cx="3019425" cy="803821"/>
          </a:xfrm>
          <a:prstGeom prst="roundRect">
            <a:avLst>
              <a:gd name="adj" fmla="val 2370"/>
            </a:avLst>
          </a:prstGeom>
          <a:solidFill>
            <a:srgbClr val="18212E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11" name="Text 9"/>
          <p:cNvSpPr/>
          <p:nvPr/>
        </p:nvSpPr>
        <p:spPr>
          <a:xfrm>
            <a:off x="10584609" y="3921701"/>
            <a:ext cx="284330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104516"/>
              </a:lnSpc>
              <a:buNone/>
            </a:pPr>
            <a:r>
              <a:rPr lang="en-US" sz="2025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Maintenance action</a:t>
            </a:r>
            <a:endParaRPr lang="en-US" sz="2025" dirty="0"/>
          </a:p>
        </p:txBody>
      </p:sp>
      <p:sp>
        <p:nvSpPr>
          <p:cNvPr id="12" name="Text 10"/>
          <p:cNvSpPr/>
          <p:nvPr/>
        </p:nvSpPr>
        <p:spPr>
          <a:xfrm>
            <a:off x="13477875" y="3884048"/>
            <a:ext cx="59055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4333"/>
              </a:lnSpc>
              <a:buNone/>
            </a:pPr>
            <a:r>
              <a:rPr lang="en-US" sz="1950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4030325" y="3674051"/>
            <a:ext cx="3019425" cy="803821"/>
          </a:xfrm>
          <a:prstGeom prst="roundRect">
            <a:avLst>
              <a:gd name="adj" fmla="val 2370"/>
            </a:avLst>
          </a:prstGeom>
          <a:solidFill>
            <a:srgbClr val="18212E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14" name="Text 12"/>
          <p:cNvSpPr/>
          <p:nvPr/>
        </p:nvSpPr>
        <p:spPr>
          <a:xfrm>
            <a:off x="14118384" y="3921701"/>
            <a:ext cx="284330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104516"/>
              </a:lnSpc>
              <a:buNone/>
            </a:pPr>
            <a:r>
              <a:rPr lang="en-US" sz="2025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Failure avoided</a:t>
            </a:r>
            <a:endParaRPr lang="en-US" sz="2025" dirty="0"/>
          </a:p>
        </p:txBody>
      </p:sp>
      <p:sp>
        <p:nvSpPr>
          <p:cNvPr id="15" name="Text 13"/>
          <p:cNvSpPr/>
          <p:nvPr/>
        </p:nvSpPr>
        <p:spPr>
          <a:xfrm>
            <a:off x="1238250" y="6035725"/>
            <a:ext cx="24098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252" dirty="0">
                <a:solidFill>
                  <a:srgbClr val="7D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WORKFORCE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429000" y="5810994"/>
            <a:ext cx="3019425" cy="803821"/>
          </a:xfrm>
          <a:prstGeom prst="roundRect">
            <a:avLst>
              <a:gd name="adj" fmla="val 2370"/>
            </a:avLst>
          </a:prstGeom>
          <a:solidFill>
            <a:srgbClr val="18212E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17" name="Text 15"/>
          <p:cNvSpPr/>
          <p:nvPr/>
        </p:nvSpPr>
        <p:spPr>
          <a:xfrm>
            <a:off x="3517059" y="6058644"/>
            <a:ext cx="284330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104516"/>
              </a:lnSpc>
              <a:buNone/>
            </a:pPr>
            <a:r>
              <a:rPr lang="en-US" sz="2025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Attrition model</a:t>
            </a:r>
            <a:endParaRPr lang="en-US" sz="2025" dirty="0"/>
          </a:p>
        </p:txBody>
      </p:sp>
      <p:sp>
        <p:nvSpPr>
          <p:cNvPr id="18" name="Text 16"/>
          <p:cNvSpPr/>
          <p:nvPr/>
        </p:nvSpPr>
        <p:spPr>
          <a:xfrm>
            <a:off x="6410325" y="6020991"/>
            <a:ext cx="59055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4333"/>
              </a:lnSpc>
              <a:buNone/>
            </a:pPr>
            <a:r>
              <a:rPr lang="en-US" sz="1950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6962775" y="5810994"/>
            <a:ext cx="3019425" cy="803821"/>
          </a:xfrm>
          <a:prstGeom prst="roundRect">
            <a:avLst>
              <a:gd name="adj" fmla="val 2370"/>
            </a:avLst>
          </a:prstGeom>
          <a:solidFill>
            <a:srgbClr val="E9A13B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20" name="Text 18"/>
          <p:cNvSpPr/>
          <p:nvPr/>
        </p:nvSpPr>
        <p:spPr>
          <a:xfrm>
            <a:off x="7050834" y="6058644"/>
            <a:ext cx="284330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104516"/>
              </a:lnSpc>
              <a:buNone/>
            </a:pPr>
            <a:r>
              <a:rPr lang="en-US" sz="2025" b="1" dirty="0">
                <a:solidFill>
                  <a:srgbClr val="101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 time</a:t>
            </a:r>
            <a:endParaRPr lang="en-US" sz="2025" dirty="0"/>
          </a:p>
        </p:txBody>
      </p:sp>
      <p:sp>
        <p:nvSpPr>
          <p:cNvPr id="21" name="Text 19"/>
          <p:cNvSpPr/>
          <p:nvPr/>
        </p:nvSpPr>
        <p:spPr>
          <a:xfrm>
            <a:off x="9944100" y="6020991"/>
            <a:ext cx="59055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4333"/>
              </a:lnSpc>
              <a:buNone/>
            </a:pPr>
            <a:r>
              <a:rPr lang="en-US" sz="1950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10496550" y="5810994"/>
            <a:ext cx="3019425" cy="803821"/>
          </a:xfrm>
          <a:prstGeom prst="roundRect">
            <a:avLst>
              <a:gd name="adj" fmla="val 2370"/>
            </a:avLst>
          </a:prstGeom>
          <a:solidFill>
            <a:srgbClr val="18212E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23" name="Text 21"/>
          <p:cNvSpPr/>
          <p:nvPr/>
        </p:nvSpPr>
        <p:spPr>
          <a:xfrm>
            <a:off x="10584609" y="6058644"/>
            <a:ext cx="284330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104516"/>
              </a:lnSpc>
              <a:buNone/>
            </a:pPr>
            <a:r>
              <a:rPr lang="en-US" sz="2025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Retention conversation</a:t>
            </a:r>
            <a:endParaRPr lang="en-US" sz="2025" dirty="0"/>
          </a:p>
        </p:txBody>
      </p:sp>
      <p:sp>
        <p:nvSpPr>
          <p:cNvPr id="24" name="Text 22"/>
          <p:cNvSpPr/>
          <p:nvPr/>
        </p:nvSpPr>
        <p:spPr>
          <a:xfrm>
            <a:off x="13477875" y="6020991"/>
            <a:ext cx="59055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4333"/>
              </a:lnSpc>
              <a:buNone/>
            </a:pPr>
            <a:r>
              <a:rPr lang="en-US" sz="1950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4030325" y="5810994"/>
            <a:ext cx="3019425" cy="803821"/>
          </a:xfrm>
          <a:prstGeom prst="roundRect">
            <a:avLst>
              <a:gd name="adj" fmla="val 2370"/>
            </a:avLst>
          </a:prstGeom>
          <a:solidFill>
            <a:srgbClr val="18212E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26" name="Text 24"/>
          <p:cNvSpPr/>
          <p:nvPr/>
        </p:nvSpPr>
        <p:spPr>
          <a:xfrm>
            <a:off x="14118384" y="6058644"/>
            <a:ext cx="284330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104516"/>
              </a:lnSpc>
              <a:buNone/>
            </a:pPr>
            <a:r>
              <a:rPr lang="en-US" sz="2025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Departure avoided</a:t>
            </a:r>
            <a:endParaRPr lang="en-US" sz="2025" dirty="0"/>
          </a:p>
        </p:txBody>
      </p:sp>
      <p:sp>
        <p:nvSpPr>
          <p:cNvPr id="27" name="Text 25"/>
          <p:cNvSpPr/>
          <p:nvPr/>
        </p:nvSpPr>
        <p:spPr>
          <a:xfrm>
            <a:off x="1238250" y="7258725"/>
            <a:ext cx="17392650" cy="5399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8684"/>
              </a:lnSpc>
              <a:buNone/>
            </a:pPr>
            <a:r>
              <a:rPr lang="en-US" sz="2550" i="1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sensor creates the opportunity. The action captures the value.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1238250" y="9208889"/>
            <a:ext cx="4305434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08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Employee Retention Predictor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6794955" y="9208889"/>
            <a:ext cx="591523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08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7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38250" y="571500"/>
            <a:ext cx="17392650" cy="624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7778"/>
              </a:lnSpc>
              <a:buNone/>
            </a:pPr>
            <a:r>
              <a:rPr lang="en-US" sz="4200" kern="0" spc="-63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Data Knows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1238250" y="1348680"/>
            <a:ext cx="1739265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2400" dirty="0">
                <a:solidFill>
                  <a:srgbClr val="E9A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2.9× departure rate on a variable we control.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38250" y="2202061"/>
            <a:ext cx="14859000" cy="5748338"/>
          </a:xfrm>
          <a:prstGeom prst="roundRect">
            <a:avLst>
              <a:gd name="adj" fmla="val 331"/>
            </a:avLst>
          </a:prstGeom>
          <a:solidFill>
            <a:srgbClr val="0F1723"/>
          </a:solidFill>
          <a:ln/>
        </p:spPr>
        <p:txBody>
          <a:bodyPr/>
          <a:lstStyle/>
          <a:p>
            <a:endParaRPr lang="en-ZA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250" y="2202061"/>
            <a:ext cx="14859000" cy="57483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8250" y="8331398"/>
            <a:ext cx="1739265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333"/>
              </a:lnSpc>
              <a:buNone/>
            </a:pPr>
            <a:r>
              <a:rPr lang="en-US" sz="1950" dirty="0">
                <a:solidFill>
                  <a:srgbClr val="8C9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single variable predicts departure — the strongest correlation is 0.17.</a:t>
            </a:r>
            <a:endParaRPr lang="en-US" sz="1950" dirty="0"/>
          </a:p>
        </p:txBody>
      </p:sp>
      <p:sp>
        <p:nvSpPr>
          <p:cNvPr id="7" name="Text 4"/>
          <p:cNvSpPr/>
          <p:nvPr/>
        </p:nvSpPr>
        <p:spPr>
          <a:xfrm>
            <a:off x="1238250" y="9342239"/>
            <a:ext cx="4305434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08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Employee Retention Predictor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6794956" y="9342239"/>
            <a:ext cx="643038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08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7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38250" y="571500"/>
            <a:ext cx="17392650" cy="624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7778"/>
              </a:lnSpc>
              <a:buNone/>
            </a:pPr>
            <a:r>
              <a:rPr lang="en-US" sz="4200" kern="0" spc="-63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Validated Performance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1238250" y="1386780"/>
            <a:ext cx="14859000" cy="5748338"/>
          </a:xfrm>
          <a:prstGeom prst="roundRect">
            <a:avLst>
              <a:gd name="adj" fmla="val 331"/>
            </a:avLst>
          </a:prstGeom>
          <a:solidFill>
            <a:srgbClr val="0F1723"/>
          </a:solidFill>
          <a:ln/>
        </p:spPr>
        <p:txBody>
          <a:bodyPr/>
          <a:lstStyle/>
          <a:p>
            <a:endParaRPr lang="en-ZA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250" y="1386780"/>
            <a:ext cx="14859000" cy="574833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8250" y="7363718"/>
            <a:ext cx="1698133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7879"/>
              </a:lnSpc>
              <a:buNone/>
            </a:pPr>
            <a:r>
              <a:rPr lang="en-US" sz="4350" dirty="0">
                <a:solidFill>
                  <a:srgbClr val="E9A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0.813</a:t>
            </a:r>
            <a:endParaRPr lang="en-US" sz="4350" dirty="0"/>
          </a:p>
        </p:txBody>
      </p:sp>
      <p:sp>
        <p:nvSpPr>
          <p:cNvPr id="6" name="Text 3"/>
          <p:cNvSpPr/>
          <p:nvPr/>
        </p:nvSpPr>
        <p:spPr>
          <a:xfrm>
            <a:off x="1238250" y="8011418"/>
            <a:ext cx="1262955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333"/>
              </a:lnSpc>
              <a:buNone/>
            </a:pPr>
            <a:r>
              <a:rPr lang="en-US" sz="1950" kern="0" spc="195" dirty="0">
                <a:solidFill>
                  <a:srgbClr val="8C9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AUC</a:t>
            </a:r>
            <a:endParaRPr lang="en-US" sz="1950" dirty="0"/>
          </a:p>
        </p:txBody>
      </p:sp>
      <p:sp>
        <p:nvSpPr>
          <p:cNvPr id="7" name="Text 4"/>
          <p:cNvSpPr/>
          <p:nvPr/>
        </p:nvSpPr>
        <p:spPr>
          <a:xfrm>
            <a:off x="3568005" y="7363718"/>
            <a:ext cx="3438748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7879"/>
              </a:lnSpc>
              <a:buNone/>
            </a:pPr>
            <a:r>
              <a:rPr lang="en-US" sz="4350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65%</a:t>
            </a:r>
            <a:endParaRPr lang="en-US" sz="4350" dirty="0"/>
          </a:p>
        </p:txBody>
      </p:sp>
      <p:sp>
        <p:nvSpPr>
          <p:cNvPr id="8" name="Text 5"/>
          <p:cNvSpPr/>
          <p:nvPr/>
        </p:nvSpPr>
        <p:spPr>
          <a:xfrm>
            <a:off x="3568005" y="8011418"/>
            <a:ext cx="3438748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333"/>
              </a:lnSpc>
              <a:buNone/>
            </a:pPr>
            <a:r>
              <a:rPr lang="en-US" sz="1950" dirty="0">
                <a:solidFill>
                  <a:srgbClr val="8C9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 — of leavers identified</a:t>
            </a:r>
            <a:endParaRPr lang="en-US" sz="1950" dirty="0"/>
          </a:p>
        </p:txBody>
      </p:sp>
      <p:sp>
        <p:nvSpPr>
          <p:cNvPr id="9" name="Text 6"/>
          <p:cNvSpPr/>
          <p:nvPr/>
        </p:nvSpPr>
        <p:spPr>
          <a:xfrm>
            <a:off x="7837140" y="7363718"/>
            <a:ext cx="3802187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7879"/>
              </a:lnSpc>
              <a:buNone/>
            </a:pPr>
            <a:r>
              <a:rPr lang="en-US" sz="4350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43%</a:t>
            </a:r>
            <a:endParaRPr lang="en-US" sz="4350" dirty="0"/>
          </a:p>
        </p:txBody>
      </p:sp>
      <p:sp>
        <p:nvSpPr>
          <p:cNvPr id="10" name="Text 7"/>
          <p:cNvSpPr/>
          <p:nvPr/>
        </p:nvSpPr>
        <p:spPr>
          <a:xfrm>
            <a:off x="7837140" y="8011418"/>
            <a:ext cx="3802187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333"/>
              </a:lnSpc>
              <a:buNone/>
            </a:pPr>
            <a:r>
              <a:rPr lang="en-US" sz="1950" dirty="0">
                <a:solidFill>
                  <a:srgbClr val="8C9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Precision — of flags are genuine</a:t>
            </a:r>
            <a:endParaRPr lang="en-US" sz="1950" dirty="0"/>
          </a:p>
        </p:txBody>
      </p:sp>
      <p:sp>
        <p:nvSpPr>
          <p:cNvPr id="11" name="Text 8"/>
          <p:cNvSpPr/>
          <p:nvPr/>
        </p:nvSpPr>
        <p:spPr>
          <a:xfrm>
            <a:off x="1238250" y="8642896"/>
            <a:ext cx="1739265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333"/>
              </a:lnSpc>
              <a:buNone/>
            </a:pPr>
            <a:r>
              <a:rPr lang="en-US" sz="1950" dirty="0">
                <a:solidFill>
                  <a:srgbClr val="8C9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Nested cross-validation — 1,470 employees, no data leakage.</a:t>
            </a:r>
            <a:endParaRPr lang="en-US" sz="1950" dirty="0"/>
          </a:p>
        </p:txBody>
      </p:sp>
      <p:sp>
        <p:nvSpPr>
          <p:cNvPr id="12" name="Text 9"/>
          <p:cNvSpPr/>
          <p:nvPr/>
        </p:nvSpPr>
        <p:spPr>
          <a:xfrm>
            <a:off x="1238250" y="9342239"/>
            <a:ext cx="4305434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08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Employee Retention Predictor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6794955" y="9342239"/>
            <a:ext cx="630159" cy="3732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08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7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38250" y="1377356"/>
            <a:ext cx="17392650" cy="7085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6438"/>
              </a:lnSpc>
              <a:buNone/>
            </a:pPr>
            <a:r>
              <a:rPr lang="en-US" sz="4800" kern="0" spc="-72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Fair by Construction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238250" y="3249365"/>
            <a:ext cx="8015288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252" dirty="0">
                <a:solidFill>
                  <a:srgbClr val="7D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EXCLUDED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0" y="3946476"/>
            <a:ext cx="8015288" cy="5695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098"/>
              </a:lnSpc>
              <a:buNone/>
            </a:pPr>
            <a:r>
              <a:rPr lang="en-US" sz="2700" strike="sngStrike" dirty="0">
                <a:solidFill>
                  <a:srgbClr val="8C9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Gender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238250" y="4706541"/>
            <a:ext cx="8015288" cy="5695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098"/>
              </a:lnSpc>
              <a:buNone/>
            </a:pPr>
            <a:r>
              <a:rPr lang="en-US" sz="2700" strike="sngStrike" dirty="0">
                <a:solidFill>
                  <a:srgbClr val="8C9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238250" y="5466606"/>
            <a:ext cx="8015288" cy="5695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098"/>
              </a:lnSpc>
              <a:buNone/>
            </a:pPr>
            <a:r>
              <a:rPr lang="en-US" sz="2700" strike="sngStrike" dirty="0">
                <a:solidFill>
                  <a:srgbClr val="8C9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Marital Status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38250" y="6226671"/>
            <a:ext cx="8015288" cy="5695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098"/>
              </a:lnSpc>
              <a:buNone/>
            </a:pPr>
            <a:r>
              <a:rPr lang="en-US" sz="2700" strike="sngStrike" dirty="0">
                <a:solidFill>
                  <a:srgbClr val="8C9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Distance From Home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9763125" y="3249365"/>
            <a:ext cx="8015288" cy="1576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3679"/>
              </a:lnSpc>
              <a:buNone/>
            </a:pPr>
            <a:r>
              <a:rPr lang="en-US" sz="12750" kern="0" spc="-382" dirty="0">
                <a:solidFill>
                  <a:srgbClr val="E9A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0.908</a:t>
            </a:r>
            <a:endParaRPr lang="en-US" sz="12750" dirty="0"/>
          </a:p>
        </p:txBody>
      </p:sp>
      <p:sp>
        <p:nvSpPr>
          <p:cNvPr id="9" name="Text 7"/>
          <p:cNvSpPr/>
          <p:nvPr/>
        </p:nvSpPr>
        <p:spPr>
          <a:xfrm>
            <a:off x="9763124" y="5054352"/>
            <a:ext cx="6258193" cy="923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2250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Gender impact ratio — passes four-fifths rule.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238250" y="8241209"/>
            <a:ext cx="1739265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2400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of fairness: 0.02 AUC. Worth it.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238250" y="9208889"/>
            <a:ext cx="4305434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08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Employee Retention Predictor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794956" y="9208889"/>
            <a:ext cx="668796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08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7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38250" y="762000"/>
            <a:ext cx="17392650" cy="624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7778"/>
              </a:lnSpc>
              <a:buNone/>
            </a:pPr>
            <a:r>
              <a:rPr lang="en-US" sz="4200" kern="0" spc="-63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Economics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1238250" y="2232719"/>
            <a:ext cx="4953000" cy="2381250"/>
          </a:xfrm>
          <a:prstGeom prst="roundRect">
            <a:avLst>
              <a:gd name="adj" fmla="val 800"/>
            </a:avLst>
          </a:prstGeom>
          <a:solidFill>
            <a:srgbClr val="1B2531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4" name="Text 2"/>
          <p:cNvSpPr/>
          <p:nvPr/>
        </p:nvSpPr>
        <p:spPr>
          <a:xfrm>
            <a:off x="1562100" y="2898055"/>
            <a:ext cx="473583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4950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$86,000</a:t>
            </a:r>
            <a:endParaRPr lang="en-US" sz="4950" dirty="0"/>
          </a:p>
        </p:txBody>
      </p:sp>
      <p:sp>
        <p:nvSpPr>
          <p:cNvPr id="5" name="Text 3"/>
          <p:cNvSpPr/>
          <p:nvPr/>
        </p:nvSpPr>
        <p:spPr>
          <a:xfrm>
            <a:off x="1562100" y="3641005"/>
            <a:ext cx="473583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333"/>
              </a:lnSpc>
              <a:buNone/>
            </a:pPr>
            <a:r>
              <a:rPr lang="en-US" sz="1950" dirty="0">
                <a:solidFill>
                  <a:srgbClr val="8C9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of missing a leaver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7970858" y="2964916"/>
            <a:ext cx="1677873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8073"/>
              </a:lnSpc>
              <a:buNone/>
            </a:pPr>
            <a:r>
              <a:rPr lang="en-US" sz="7200" dirty="0">
                <a:solidFill>
                  <a:srgbClr val="E9A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15:1</a:t>
            </a:r>
            <a:endParaRPr lang="en-US" sz="7200" dirty="0"/>
          </a:p>
        </p:txBody>
      </p:sp>
      <p:sp>
        <p:nvSpPr>
          <p:cNvPr id="7" name="Shape 5"/>
          <p:cNvSpPr/>
          <p:nvPr/>
        </p:nvSpPr>
        <p:spPr>
          <a:xfrm>
            <a:off x="11428339" y="2964916"/>
            <a:ext cx="2857500" cy="914400"/>
          </a:xfrm>
          <a:prstGeom prst="roundRect">
            <a:avLst>
              <a:gd name="adj" fmla="val 2083"/>
            </a:avLst>
          </a:prstGeom>
          <a:solidFill>
            <a:srgbClr val="1B2531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8" name="Text 6"/>
          <p:cNvSpPr/>
          <p:nvPr/>
        </p:nvSpPr>
        <p:spPr>
          <a:xfrm>
            <a:off x="11656939" y="3055923"/>
            <a:ext cx="264033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7805"/>
              </a:lnSpc>
              <a:buNone/>
            </a:pPr>
            <a:r>
              <a:rPr lang="en-US" sz="2700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$5,700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1656939" y="3475023"/>
            <a:ext cx="264033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dirty="0">
                <a:solidFill>
                  <a:srgbClr val="8C9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of an intervention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238249" y="5468444"/>
            <a:ext cx="13335000" cy="495300"/>
          </a:xfrm>
          <a:prstGeom prst="roundRect">
            <a:avLst>
              <a:gd name="adj" fmla="val 3846"/>
            </a:avLst>
          </a:prstGeom>
          <a:solidFill>
            <a:srgbClr val="18212E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11" name="Shape 9"/>
          <p:cNvSpPr/>
          <p:nvPr/>
        </p:nvSpPr>
        <p:spPr>
          <a:xfrm>
            <a:off x="6872287" y="5468444"/>
            <a:ext cx="4367213" cy="495300"/>
          </a:xfrm>
          <a:prstGeom prst="rect">
            <a:avLst/>
          </a:prstGeom>
          <a:solidFill>
            <a:srgbClr val="2F4152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12" name="Shape 10"/>
          <p:cNvSpPr/>
          <p:nvPr/>
        </p:nvSpPr>
        <p:spPr>
          <a:xfrm>
            <a:off x="6872287" y="5335094"/>
            <a:ext cx="28575" cy="762000"/>
          </a:xfrm>
          <a:prstGeom prst="rect">
            <a:avLst/>
          </a:prstGeom>
          <a:solidFill>
            <a:srgbClr val="8C98A8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13" name="Shape 11"/>
          <p:cNvSpPr/>
          <p:nvPr/>
        </p:nvSpPr>
        <p:spPr>
          <a:xfrm>
            <a:off x="11239499" y="5335094"/>
            <a:ext cx="28575" cy="762000"/>
          </a:xfrm>
          <a:prstGeom prst="rect">
            <a:avLst/>
          </a:prstGeom>
          <a:solidFill>
            <a:srgbClr val="F2EDE4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14" name="Text 12"/>
          <p:cNvSpPr/>
          <p:nvPr/>
        </p:nvSpPr>
        <p:spPr>
          <a:xfrm>
            <a:off x="5981625" y="6116144"/>
            <a:ext cx="1959456" cy="392311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dirty="0">
                <a:solidFill>
                  <a:srgbClr val="8C9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16.9% break-even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417893" y="6116144"/>
            <a:ext cx="1807532" cy="392311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30% benchmark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38249" y="7225754"/>
            <a:ext cx="2110257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88136"/>
              </a:lnSpc>
              <a:buNone/>
            </a:pPr>
            <a:r>
              <a:rPr lang="en-US" sz="3900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$1.7M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1238250" y="7816304"/>
            <a:ext cx="1375172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44" dirty="0">
                <a:solidFill>
                  <a:srgbClr val="8C9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729843" y="7239339"/>
            <a:ext cx="1499483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88136"/>
              </a:lnSpc>
              <a:buNone/>
            </a:pPr>
            <a:r>
              <a:rPr lang="en-US" sz="3900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77%</a:t>
            </a:r>
            <a:endParaRPr lang="en-US" sz="3900" dirty="0"/>
          </a:p>
        </p:txBody>
      </p:sp>
      <p:sp>
        <p:nvSpPr>
          <p:cNvPr id="19" name="Text 17"/>
          <p:cNvSpPr/>
          <p:nvPr/>
        </p:nvSpPr>
        <p:spPr>
          <a:xfrm>
            <a:off x="3729843" y="7829889"/>
            <a:ext cx="949523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44" dirty="0">
                <a:solidFill>
                  <a:srgbClr val="8C9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ROI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795787" y="7225754"/>
            <a:ext cx="3802680" cy="5543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8136"/>
              </a:lnSpc>
              <a:buNone/>
            </a:pPr>
            <a:r>
              <a:rPr lang="en-US" sz="3900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6.8 months</a:t>
            </a:r>
            <a:endParaRPr lang="en-US" sz="3900" dirty="0"/>
          </a:p>
        </p:txBody>
      </p:sp>
      <p:sp>
        <p:nvSpPr>
          <p:cNvPr id="21" name="Text 19"/>
          <p:cNvSpPr/>
          <p:nvPr/>
        </p:nvSpPr>
        <p:spPr>
          <a:xfrm>
            <a:off x="5795787" y="7816306"/>
            <a:ext cx="4073136" cy="3335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44" dirty="0">
                <a:solidFill>
                  <a:srgbClr val="8C9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PAYBACK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38250" y="9246989"/>
            <a:ext cx="4305434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08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Employee Retention Predictor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6794955" y="9246989"/>
            <a:ext cx="1299861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08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7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38250" y="571500"/>
            <a:ext cx="17392650" cy="624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7778"/>
              </a:lnSpc>
              <a:buNone/>
            </a:pPr>
            <a:r>
              <a:rPr lang="en-US" sz="4200" kern="0" spc="-63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don't know the observation window.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1238250" y="1405830"/>
            <a:ext cx="14287500" cy="5534025"/>
          </a:xfrm>
          <a:prstGeom prst="roundRect">
            <a:avLst>
              <a:gd name="adj" fmla="val 344"/>
            </a:avLst>
          </a:prstGeom>
          <a:solidFill>
            <a:srgbClr val="0F1723"/>
          </a:solidFill>
          <a:ln/>
        </p:spPr>
        <p:txBody>
          <a:bodyPr/>
          <a:lstStyle/>
          <a:p>
            <a:endParaRPr lang="en-ZA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250" y="1405830"/>
            <a:ext cx="14287500" cy="553402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238250" y="7187505"/>
            <a:ext cx="2766417" cy="992386"/>
          </a:xfrm>
          <a:prstGeom prst="roundRect">
            <a:avLst>
              <a:gd name="adj" fmla="val 1920"/>
            </a:avLst>
          </a:prstGeom>
          <a:solidFill>
            <a:srgbClr val="18212E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6" name="Text 3"/>
          <p:cNvSpPr/>
          <p:nvPr/>
        </p:nvSpPr>
        <p:spPr>
          <a:xfrm>
            <a:off x="1429793" y="7530405"/>
            <a:ext cx="77018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year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2333328" y="7358955"/>
            <a:ext cx="1748581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5AA8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+$1.7M</a:t>
            </a:r>
            <a:endParaRPr lang="en-US" sz="3300" dirty="0"/>
          </a:p>
        </p:txBody>
      </p:sp>
      <p:sp>
        <p:nvSpPr>
          <p:cNvPr id="8" name="Shape 5"/>
          <p:cNvSpPr/>
          <p:nvPr/>
        </p:nvSpPr>
        <p:spPr>
          <a:xfrm>
            <a:off x="4309467" y="7187505"/>
            <a:ext cx="2877294" cy="992386"/>
          </a:xfrm>
          <a:prstGeom prst="roundRect">
            <a:avLst>
              <a:gd name="adj" fmla="val 1920"/>
            </a:avLst>
          </a:prstGeom>
          <a:solidFill>
            <a:srgbClr val="18212E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9" name="Text 6"/>
          <p:cNvSpPr/>
          <p:nvPr/>
        </p:nvSpPr>
        <p:spPr>
          <a:xfrm>
            <a:off x="4423768" y="7530405"/>
            <a:ext cx="948467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years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5438180" y="7358955"/>
            <a:ext cx="1748581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C96A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−$0.3M</a:t>
            </a:r>
            <a:endParaRPr lang="en-US" sz="3300" dirty="0"/>
          </a:p>
        </p:txBody>
      </p:sp>
      <p:sp>
        <p:nvSpPr>
          <p:cNvPr id="11" name="Shape 8"/>
          <p:cNvSpPr/>
          <p:nvPr/>
        </p:nvSpPr>
        <p:spPr>
          <a:xfrm>
            <a:off x="7491561" y="7187505"/>
            <a:ext cx="2877294" cy="992386"/>
          </a:xfrm>
          <a:prstGeom prst="roundRect">
            <a:avLst>
              <a:gd name="adj" fmla="val 1920"/>
            </a:avLst>
          </a:prstGeom>
          <a:solidFill>
            <a:srgbClr val="18212E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12" name="Text 9"/>
          <p:cNvSpPr/>
          <p:nvPr/>
        </p:nvSpPr>
        <p:spPr>
          <a:xfrm>
            <a:off x="7680989" y="7535523"/>
            <a:ext cx="101441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years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8695401" y="7364073"/>
            <a:ext cx="1881931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C96A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−$0.9M</a:t>
            </a:r>
            <a:endParaRPr lang="en-US" sz="3300" dirty="0"/>
          </a:p>
        </p:txBody>
      </p:sp>
      <p:sp>
        <p:nvSpPr>
          <p:cNvPr id="14" name="Text 11"/>
          <p:cNvSpPr/>
          <p:nvPr/>
        </p:nvSpPr>
        <p:spPr>
          <a:xfrm>
            <a:off x="1238250" y="8427541"/>
            <a:ext cx="1739265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Resolved by one query against date-stamped HRIS records.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238250" y="9342239"/>
            <a:ext cx="4305434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08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Employee Retention Predictor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6794956" y="9342239"/>
            <a:ext cx="330994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08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7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38250" y="2021532"/>
            <a:ext cx="17392650" cy="7085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6438"/>
              </a:lnSpc>
              <a:buNone/>
            </a:pPr>
            <a:r>
              <a:rPr lang="en-US" sz="4800" kern="0" spc="-72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Haven't Proven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238250" y="3492103"/>
            <a:ext cx="8015288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8889"/>
              </a:lnSpc>
              <a:buNone/>
            </a:pPr>
            <a:r>
              <a:rPr lang="en-US" sz="4200" dirty="0">
                <a:solidFill>
                  <a:srgbClr val="8C9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1238250" y="4311253"/>
            <a:ext cx="8015288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252" dirty="0">
                <a:solidFill>
                  <a:srgbClr val="7D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VALIDATED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38250" y="4855964"/>
            <a:ext cx="8015288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146"/>
              </a:lnSpc>
              <a:buNone/>
            </a:pPr>
            <a:r>
              <a:rPr lang="en-US" sz="2700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model identifies who is at risk.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763125" y="3492103"/>
            <a:ext cx="8015288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8889"/>
              </a:lnSpc>
              <a:buNone/>
            </a:pPr>
            <a:r>
              <a:rPr lang="en-US" sz="4200" dirty="0">
                <a:solidFill>
                  <a:srgbClr val="E9A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763125" y="4311253"/>
            <a:ext cx="8015288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252" dirty="0">
                <a:solidFill>
                  <a:srgbClr val="E9A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VALIDATED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763125" y="4855964"/>
            <a:ext cx="7505224" cy="92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146"/>
              </a:lnSpc>
              <a:buNone/>
            </a:pPr>
            <a:r>
              <a:rPr lang="en-US" sz="2700" dirty="0">
                <a:solidFill>
                  <a:srgbClr val="E9A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Whether the intervention changes their decision.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238250" y="6661845"/>
            <a:ext cx="146685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252" dirty="0">
                <a:solidFill>
                  <a:srgbClr val="7D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PROJECTED ROI ACROSS THE EFFECTIVENESS ASSUMPTION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238250" y="7244655"/>
            <a:ext cx="13335000" cy="419100"/>
          </a:xfrm>
          <a:prstGeom prst="roundRect">
            <a:avLst>
              <a:gd name="adj" fmla="val 4545"/>
            </a:avLst>
          </a:prstGeom>
          <a:solidFill>
            <a:srgbClr val="18212E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11" name="Shape 9"/>
          <p:cNvSpPr/>
          <p:nvPr/>
        </p:nvSpPr>
        <p:spPr>
          <a:xfrm>
            <a:off x="2838450" y="7244655"/>
            <a:ext cx="10494615" cy="419100"/>
          </a:xfrm>
          <a:prstGeom prst="roundRect">
            <a:avLst>
              <a:gd name="adj" fmla="val 4545"/>
            </a:avLst>
          </a:prstGeom>
          <a:solidFill>
            <a:srgbClr val="2F4152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12" name="Text 10"/>
          <p:cNvSpPr/>
          <p:nvPr/>
        </p:nvSpPr>
        <p:spPr>
          <a:xfrm>
            <a:off x="2608213" y="7797105"/>
            <a:ext cx="536674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333"/>
              </a:lnSpc>
              <a:buNone/>
            </a:pPr>
            <a:r>
              <a:rPr lang="en-US" sz="1950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18%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3041437" y="7797105"/>
            <a:ext cx="659457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333"/>
              </a:lnSpc>
              <a:buNone/>
            </a:pPr>
            <a:r>
              <a:rPr lang="en-US" sz="1950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136%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38250" y="9246989"/>
            <a:ext cx="4305434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08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Employee Retention Predictor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794956" y="9246989"/>
            <a:ext cx="330994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08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7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38250" y="2043410"/>
            <a:ext cx="17392650" cy="624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7778"/>
              </a:lnSpc>
              <a:buNone/>
            </a:pPr>
            <a:r>
              <a:rPr lang="en-US" sz="4200" kern="0" spc="-63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Ask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1238250" y="2820591"/>
            <a:ext cx="17392650" cy="10781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2542"/>
              </a:lnSpc>
              <a:buNone/>
            </a:pPr>
            <a:r>
              <a:rPr lang="en-US" sz="7800" kern="0" spc="-156" dirty="0">
                <a:solidFill>
                  <a:srgbClr val="E9A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$185,000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1238250" y="3993952"/>
            <a:ext cx="17392650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2250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1 only.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1238250" y="5160764"/>
            <a:ext cx="2524125" cy="1896219"/>
          </a:xfrm>
          <a:custGeom>
            <a:avLst/>
            <a:gdLst/>
            <a:ahLst/>
            <a:cxnLst/>
            <a:rect l="l" t="t" r="r" b="b"/>
            <a:pathLst>
              <a:path w="2524125" h="1896219">
                <a:moveTo>
                  <a:pt x="19050" y="0"/>
                </a:moveTo>
                <a:lnTo>
                  <a:pt x="2524125" y="0"/>
                </a:lnTo>
                <a:lnTo>
                  <a:pt x="2524125" y="1896219"/>
                </a:lnTo>
                <a:lnTo>
                  <a:pt x="19050" y="1896219"/>
                </a:lnTo>
                <a:arcTo wR="19050" hR="19050" stAng="5400000" swAng="5400000"/>
                <a:lnTo>
                  <a:pt x="0" y="19050"/>
                </a:lnTo>
                <a:arcTo wR="19050" hR="19050" stAng="10800000" swAng="5400000"/>
                <a:close/>
              </a:path>
            </a:pathLst>
          </a:custGeom>
          <a:solidFill>
            <a:srgbClr val="1B2531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6" name="Text 4"/>
          <p:cNvSpPr/>
          <p:nvPr/>
        </p:nvSpPr>
        <p:spPr>
          <a:xfrm>
            <a:off x="1504950" y="5408414"/>
            <a:ext cx="2189798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80" dirty="0">
                <a:solidFill>
                  <a:srgbClr val="8C9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4950" y="5876925"/>
            <a:ext cx="2189798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2400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Foundation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504950" y="6425505"/>
            <a:ext cx="2189798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333"/>
              </a:lnSpc>
              <a:buNone/>
            </a:pPr>
            <a:r>
              <a:rPr lang="en-US" sz="1950" dirty="0">
                <a:solidFill>
                  <a:srgbClr val="8C9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Months 1–3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3762375" y="5160764"/>
            <a:ext cx="2857500" cy="1896219"/>
          </a:xfrm>
          <a:prstGeom prst="rect">
            <a:avLst/>
          </a:prstGeom>
          <a:solidFill>
            <a:srgbClr val="101722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10" name="Shape 8"/>
          <p:cNvSpPr/>
          <p:nvPr/>
        </p:nvSpPr>
        <p:spPr>
          <a:xfrm>
            <a:off x="3762375" y="5160764"/>
            <a:ext cx="28575" cy="1896219"/>
          </a:xfrm>
          <a:prstGeom prst="rect">
            <a:avLst/>
          </a:prstGeom>
          <a:solidFill>
            <a:srgbClr val="E9A13B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11" name="Shape 9"/>
          <p:cNvSpPr/>
          <p:nvPr/>
        </p:nvSpPr>
        <p:spPr>
          <a:xfrm>
            <a:off x="6591300" y="5160764"/>
            <a:ext cx="28575" cy="1896219"/>
          </a:xfrm>
          <a:prstGeom prst="rect">
            <a:avLst/>
          </a:prstGeom>
          <a:solidFill>
            <a:srgbClr val="E9A13B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12" name="Text 10"/>
          <p:cNvSpPr/>
          <p:nvPr/>
        </p:nvSpPr>
        <p:spPr>
          <a:xfrm>
            <a:off x="4114800" y="5553075"/>
            <a:ext cx="236791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80" dirty="0">
                <a:solidFill>
                  <a:srgbClr val="E9A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 1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114800" y="6021586"/>
            <a:ext cx="2228850" cy="681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8871"/>
              </a:lnSpc>
              <a:buNone/>
            </a:pPr>
            <a:r>
              <a:rPr lang="en-US" sz="2025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Confirm attrition velocity</a:t>
            </a:r>
            <a:endParaRPr lang="en-US" sz="2025" dirty="0"/>
          </a:p>
        </p:txBody>
      </p:sp>
      <p:sp>
        <p:nvSpPr>
          <p:cNvPr id="14" name="Shape 12"/>
          <p:cNvSpPr/>
          <p:nvPr/>
        </p:nvSpPr>
        <p:spPr>
          <a:xfrm>
            <a:off x="6619875" y="5160764"/>
            <a:ext cx="2524125" cy="1896219"/>
          </a:xfrm>
          <a:prstGeom prst="rect">
            <a:avLst/>
          </a:prstGeom>
          <a:solidFill>
            <a:srgbClr val="1B2531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15" name="Text 13"/>
          <p:cNvSpPr/>
          <p:nvPr/>
        </p:nvSpPr>
        <p:spPr>
          <a:xfrm>
            <a:off x="6886575" y="5408414"/>
            <a:ext cx="2189798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80" dirty="0">
                <a:solidFill>
                  <a:srgbClr val="8C9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886575" y="5876925"/>
            <a:ext cx="2189798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2400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886575" y="6425505"/>
            <a:ext cx="2189798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333"/>
              </a:lnSpc>
              <a:buNone/>
            </a:pPr>
            <a:r>
              <a:rPr lang="en-US" sz="1950" dirty="0">
                <a:solidFill>
                  <a:srgbClr val="8C9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Months 4–6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9144000" y="5160764"/>
            <a:ext cx="2857500" cy="1896219"/>
          </a:xfrm>
          <a:prstGeom prst="rect">
            <a:avLst/>
          </a:prstGeom>
          <a:solidFill>
            <a:srgbClr val="101722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19" name="Shape 17"/>
          <p:cNvSpPr/>
          <p:nvPr/>
        </p:nvSpPr>
        <p:spPr>
          <a:xfrm>
            <a:off x="9144000" y="5160764"/>
            <a:ext cx="28575" cy="1896219"/>
          </a:xfrm>
          <a:prstGeom prst="rect">
            <a:avLst/>
          </a:prstGeom>
          <a:solidFill>
            <a:srgbClr val="E9A13B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20" name="Shape 18"/>
          <p:cNvSpPr/>
          <p:nvPr/>
        </p:nvSpPr>
        <p:spPr>
          <a:xfrm>
            <a:off x="11972925" y="5160764"/>
            <a:ext cx="28575" cy="1896219"/>
          </a:xfrm>
          <a:prstGeom prst="rect">
            <a:avLst/>
          </a:prstGeom>
          <a:solidFill>
            <a:srgbClr val="E9A13B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21" name="Text 19"/>
          <p:cNvSpPr/>
          <p:nvPr/>
        </p:nvSpPr>
        <p:spPr>
          <a:xfrm>
            <a:off x="9496425" y="5553075"/>
            <a:ext cx="236791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80" dirty="0">
                <a:solidFill>
                  <a:srgbClr val="E9A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 2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496425" y="6021586"/>
            <a:ext cx="2228850" cy="681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8871"/>
              </a:lnSpc>
              <a:buNone/>
            </a:pPr>
            <a:r>
              <a:rPr lang="en-US" sz="2025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Effectiveness ≥16.9%</a:t>
            </a:r>
            <a:endParaRPr lang="en-US" sz="2025" dirty="0"/>
          </a:p>
        </p:txBody>
      </p:sp>
      <p:sp>
        <p:nvSpPr>
          <p:cNvPr id="23" name="Shape 21"/>
          <p:cNvSpPr/>
          <p:nvPr/>
        </p:nvSpPr>
        <p:spPr>
          <a:xfrm>
            <a:off x="12001500" y="5160764"/>
            <a:ext cx="2524125" cy="1896219"/>
          </a:xfrm>
          <a:prstGeom prst="rect">
            <a:avLst/>
          </a:prstGeom>
          <a:solidFill>
            <a:srgbClr val="1B2531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24" name="Text 22"/>
          <p:cNvSpPr/>
          <p:nvPr/>
        </p:nvSpPr>
        <p:spPr>
          <a:xfrm>
            <a:off x="12268200" y="5408414"/>
            <a:ext cx="2189798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80" dirty="0">
                <a:solidFill>
                  <a:srgbClr val="8C9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2268200" y="5876925"/>
            <a:ext cx="2189798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2400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2268200" y="6425505"/>
            <a:ext cx="2189798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333"/>
              </a:lnSpc>
              <a:buNone/>
            </a:pPr>
            <a:r>
              <a:rPr lang="en-US" sz="1950" dirty="0">
                <a:solidFill>
                  <a:srgbClr val="8C9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Months 7–12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14525625" y="5160764"/>
            <a:ext cx="2524125" cy="1896219"/>
          </a:xfrm>
          <a:custGeom>
            <a:avLst/>
            <a:gdLst/>
            <a:ahLst/>
            <a:cxnLst/>
            <a:rect l="l" t="t" r="r" b="b"/>
            <a:pathLst>
              <a:path w="2524125" h="1896219">
                <a:moveTo>
                  <a:pt x="0" y="0"/>
                </a:moveTo>
                <a:lnTo>
                  <a:pt x="2505075" y="0"/>
                </a:lnTo>
                <a:arcTo wR="19050" hR="19050" stAng="16200000" swAng="5400000"/>
                <a:lnTo>
                  <a:pt x="2524125" y="1877169"/>
                </a:lnTo>
                <a:arcTo wR="19050" hR="19050" stAng="0" swAng="5400000"/>
                <a:lnTo>
                  <a:pt x="0" y="1896219"/>
                </a:lnTo>
                <a:lnTo>
                  <a:pt x="0" y="0"/>
                </a:lnTo>
                <a:close/>
              </a:path>
            </a:pathLst>
          </a:custGeom>
          <a:solidFill>
            <a:srgbClr val="161E29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28" name="Text 26"/>
          <p:cNvSpPr/>
          <p:nvPr/>
        </p:nvSpPr>
        <p:spPr>
          <a:xfrm>
            <a:off x="14792325" y="5408414"/>
            <a:ext cx="2189798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80" dirty="0">
                <a:solidFill>
                  <a:srgbClr val="8C9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4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4792325" y="5876925"/>
            <a:ext cx="2189798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2400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4792325" y="6425505"/>
            <a:ext cx="2189798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333"/>
              </a:lnSpc>
              <a:buNone/>
            </a:pPr>
            <a:r>
              <a:rPr lang="en-US" sz="1950" dirty="0">
                <a:solidFill>
                  <a:srgbClr val="8C9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Year 2</a:t>
            </a:r>
            <a:endParaRPr lang="en-US" sz="1950" dirty="0"/>
          </a:p>
        </p:txBody>
      </p:sp>
      <p:sp>
        <p:nvSpPr>
          <p:cNvPr id="31" name="Text 29"/>
          <p:cNvSpPr/>
          <p:nvPr/>
        </p:nvSpPr>
        <p:spPr>
          <a:xfrm>
            <a:off x="1238250" y="7590383"/>
            <a:ext cx="1739265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Intervention budget stays locked until both gates clear.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1238250" y="9246989"/>
            <a:ext cx="4305434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08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Employee Retention Predictor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6794956" y="9246989"/>
            <a:ext cx="330994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08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7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95400" y="3163193"/>
            <a:ext cx="15697200" cy="18910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111816"/>
              </a:lnSpc>
              <a:buNone/>
            </a:pPr>
            <a:r>
              <a:rPr lang="en-US" sz="5700" kern="0" spc="-85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forecast. A cheap, gated, measurable experiment — against an eight-figure liability.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1524000" y="9246989"/>
            <a:ext cx="4305434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08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Employee Retention Predictor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6509206" y="9246989"/>
            <a:ext cx="330994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08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7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533400"/>
            <a:ext cx="17602200" cy="624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7778"/>
              </a:lnSpc>
              <a:buNone/>
            </a:pPr>
            <a:r>
              <a:rPr lang="en-US" sz="4200" kern="0" spc="-63" dirty="0">
                <a:solidFill>
                  <a:srgbClr val="F2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1143000" y="1501080"/>
            <a:ext cx="7799546" cy="9431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333"/>
              </a:lnSpc>
              <a:buNone/>
            </a:pPr>
            <a:r>
              <a:rPr lang="en-US" sz="1800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Bureau of Labor Statistics. 2026. "Industry and Occupational Employment Projections Overview, 2024–34." </a:t>
            </a:r>
            <a:r>
              <a:rPr lang="en-US" sz="1800" i="1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Monthly Labor Review </a:t>
            </a:r>
            <a:r>
              <a:rPr lang="en-US" sz="1800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Washington, DC: U.S. Department of Labor.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572625" y="1501080"/>
            <a:ext cx="7799546" cy="9431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333"/>
              </a:lnSpc>
              <a:buNone/>
            </a:pPr>
            <a:r>
              <a:rPr lang="en-US" sz="1800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LinkedIn Talent Solutions. 2018. "LinkedIn Data Analysis Reveals the Latest Talent Turnover Trends." LinkedIn Newsroom, March 15.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43000" y="2634704"/>
            <a:ext cx="7799546" cy="9431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333"/>
              </a:lnSpc>
              <a:buNone/>
            </a:pPr>
            <a:r>
              <a:rPr lang="en-US" sz="1800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Bureau of Labor Statistics. 2025. </a:t>
            </a:r>
            <a:r>
              <a:rPr lang="en-US" sz="1800" i="1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Occupational Outlook Handbook: Software Developers, Quality Assurance Analysts, and Testers </a:t>
            </a:r>
            <a:r>
              <a:rPr lang="en-US" sz="1800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Washington, DC: U.S. Department of Labor.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572625" y="2634704"/>
            <a:ext cx="7799546" cy="9431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333"/>
              </a:lnSpc>
              <a:buNone/>
            </a:pPr>
            <a:r>
              <a:rPr lang="en-US" sz="1800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ManpowerGroup. 2026. "Global Talent Shortage Reaches Turning Point as AI Skills Claim Top Spot." 2026 Talent Shortage Survey.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3768328"/>
            <a:ext cx="7799546" cy="6414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333"/>
              </a:lnSpc>
              <a:buNone/>
            </a:pPr>
            <a:r>
              <a:rPr lang="en-US" sz="1800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Chartered Institute of Personnel and Development. n.d. </a:t>
            </a:r>
            <a:r>
              <a:rPr lang="en-US" sz="1800" i="1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Resourcing and Talent Planning </a:t>
            </a:r>
            <a:r>
              <a:rPr lang="en-US" sz="1800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London: CIPD.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572625" y="3768328"/>
            <a:ext cx="7799546" cy="6414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333"/>
              </a:lnSpc>
              <a:buNone/>
            </a:pPr>
            <a:r>
              <a:rPr lang="en-US" sz="1800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Payscale. n.d. "Employee Retention: What Employee Turnover Really Costs Your Company."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" y="4600277"/>
            <a:ext cx="7799546" cy="6414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333"/>
              </a:lnSpc>
              <a:buNone/>
            </a:pPr>
            <a:r>
              <a:rPr lang="en-US" sz="1800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Gallup. 2019. "This Fixable Problem Costs U.S. Businesses $1 Trillion." Gallup Workplace.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572625" y="4600277"/>
            <a:ext cx="7799546" cy="6414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333"/>
              </a:lnSpc>
              <a:buNone/>
            </a:pPr>
            <a:r>
              <a:rPr lang="en-US" sz="1800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Pedregosa, Fabian, et al. 2011. "Scikit-learn: Machine Learning in Python." </a:t>
            </a:r>
            <a:r>
              <a:rPr lang="en-US" sz="1800" i="1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Journal of Machine Learning Research </a:t>
            </a:r>
            <a:r>
              <a:rPr lang="en-US" sz="1800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12: 2825–2830.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43000" y="5432227"/>
            <a:ext cx="7799546" cy="6414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333"/>
              </a:lnSpc>
              <a:buNone/>
            </a:pPr>
            <a:r>
              <a:rPr lang="en-US" sz="1800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IBM. n.d. "IBM HR Analytics Employee Attrition &amp; Performance." Dataset. Kaggle.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572625" y="5432227"/>
            <a:ext cx="7799546" cy="6414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333"/>
              </a:lnSpc>
              <a:buNone/>
            </a:pPr>
            <a:r>
              <a:rPr lang="en-US" sz="1800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Robert Half. 2026. </a:t>
            </a:r>
            <a:r>
              <a:rPr lang="en-US" sz="1800" i="1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 Salary Guide </a:t>
            </a:r>
            <a:r>
              <a:rPr lang="en-US" sz="1800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Menlo Park, CA: Robert Half International.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6264176"/>
            <a:ext cx="7799546" cy="9431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333"/>
              </a:lnSpc>
              <a:buNone/>
            </a:pPr>
            <a:r>
              <a:rPr lang="en-US" sz="1800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Society for Human Resource Management. 2025. "The Myth of Replaceability: Preparing for the Loss of Key Employees." SHRM Executive Network.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572625" y="6264176"/>
            <a:ext cx="7799546" cy="9431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333"/>
              </a:lnSpc>
              <a:buNone/>
            </a:pPr>
            <a:r>
              <a:rPr lang="en-US" sz="1800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Wilson, Edwin B. 1927. "Probable Inference, the Law of Succession, and Statistical Inference." </a:t>
            </a:r>
            <a:r>
              <a:rPr lang="en-US" sz="1800" i="1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Journal of the American Statistical Association </a:t>
            </a:r>
            <a:r>
              <a:rPr lang="en-US" sz="1800" dirty="0">
                <a:solidFill>
                  <a:srgbClr val="B9B0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 (158): 209–212.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43000" y="7626400"/>
            <a:ext cx="176022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dirty="0">
                <a:solidFill>
                  <a:srgbClr val="8C9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Analysis conducted in Python (pandas, scikit-learn, seaborn). LLM assistance cited per Quantic conventions.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8094911"/>
            <a:ext cx="176022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dirty="0">
                <a:solidFill>
                  <a:srgbClr val="8C9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charts are the author's own analysis of the IBM HR Analytics dataset.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43000" y="9399389"/>
            <a:ext cx="4305434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08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Employee Retention Predictor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6890206" y="9399389"/>
            <a:ext cx="330994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7778"/>
              </a:lnSpc>
              <a:buNone/>
            </a:pPr>
            <a:r>
              <a:rPr lang="en-US" sz="1800" kern="0" spc="108" dirty="0">
                <a:solidFill>
                  <a:srgbClr val="6671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804</Words>
  <Application>Microsoft Office PowerPoint</Application>
  <PresentationFormat>Custom</PresentationFormat>
  <Paragraphs>185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Wouter Roos</cp:lastModifiedBy>
  <cp:revision>4</cp:revision>
  <dcterms:created xsi:type="dcterms:W3CDTF">2026-09-11T12:11:25Z</dcterms:created>
  <dcterms:modified xsi:type="dcterms:W3CDTF">2026-09-11T13:32:29Z</dcterms:modified>
</cp:coreProperties>
</file>